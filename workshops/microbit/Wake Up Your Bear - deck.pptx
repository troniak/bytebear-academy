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HOLDING SLIDE - leave this up while children arrive. Music on. Chat moderator greets every early arrival by name.</a:t>
            </a:r>
          </a:p>
          <a:p/>
          <a:p>
            <a:r>
              <a:t>SAY: "In the next 45 minutes you're going to build something that actually lights up and does what YOU tell it to. Not a video. Not a worksheet. A real program. Ready?"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0:00-0:03  WELCOME &amp; HOOK</a:t>
            </a:r>
          </a:p>
          <a:p/>
          <a:p>
            <a:r>
              <a:t>SAY: "First thing - type your first name and your age in the chat. Go."</a:t>
            </a:r>
          </a:p>
          <a:p/>
          <a:p>
            <a:r>
              <a:t>Moderator greets every name as it lands - highest-leverage 30 seconds of their session.</a:t>
            </a:r>
          </a:p>
          <a:p/>
          <a:p>
            <a:r>
              <a:t>WATCH FOR: silent chat at 0:02. Drop to a yes/no prompt - "Type 1 if you can hear me, 2 if it's fuzzy" - which is easier to answer than a name.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MEET YOUR MICRO-COMPUTER</a:t>
            </a:r>
          </a:p>
          <a:p/>
          <a:p>
            <a:r>
              <a:t>Hold the physical micro:bit v2 up to camera - close enough to see the LED grid and both buttons.</a:t>
            </a:r>
          </a:p>
          <a:p/>
          <a:p>
            <a:r>
              <a:t>SAY: "This is a micro:bit. It's smaller than a credit card, it costs less than a pizza, and it can see, hear and feel things. It's basically a robot brain."</a:t>
            </a:r>
          </a:p>
          <a:p/>
          <a:p>
            <a:r>
              <a:t>SAY: "Type in the chat - what do you think this thing can sense? Guess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Reveal 1 of 5 - Light.</a:t>
            </a:r>
          </a:p>
          <a:p/>
          <a:p>
            <a:r>
              <a:t>Prove it live on camera: Cup your hand over the board.</a:t>
            </a:r>
          </a:p>
          <a:p/>
          <a:p>
            <a:r>
              <a:t>Advance one sense at a time as children guess them. React to every correct guess.</a:t>
            </a:r>
          </a:p>
          <a:p/>
          <a:p>
            <a:r>
              <a:t>WATCH FOR: do not let this segment run past 0:09. It overruns more than any 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Reveal 2 of 5 - Sound.</a:t>
            </a:r>
          </a:p>
          <a:p/>
          <a:p>
            <a:r>
              <a:t>Prove it live on camera: Clap once.</a:t>
            </a:r>
          </a:p>
          <a:p/>
          <a:p>
            <a:r>
              <a:t>Advance one sense at a time as children guess them. React to every correct guess.</a:t>
            </a:r>
          </a:p>
          <a:p/>
          <a:p>
            <a:r>
              <a:t>WATCH FOR: do not let this segment run past 0:09. It overruns more than any other.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Reveal 3 of 5 - Motion.</a:t>
            </a:r>
          </a:p>
          <a:p/>
          <a:p>
            <a:r>
              <a:t>Prove it live on camera: Shake it.</a:t>
            </a:r>
          </a:p>
          <a:p/>
          <a:p>
            <a:r>
              <a:t>Advance one sense at a time as children guess them. React to every correct guess.</a:t>
            </a:r>
          </a:p>
          <a:p/>
          <a:p>
            <a:r>
              <a:t>WATCH FOR: do not let this segment run past 0:09. It overruns more than any 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Reveal 4 of 5 - Touch.</a:t>
            </a:r>
          </a:p>
          <a:p/>
          <a:p>
            <a:r>
              <a:t>Prove it live on camera: Touch the gold logo.</a:t>
            </a:r>
          </a:p>
          <a:p/>
          <a:p>
            <a:r>
              <a:t>Advance one sense at a time as children guess them. React to every correct guess.</a:t>
            </a:r>
          </a:p>
          <a:p/>
          <a:p>
            <a:r>
              <a:t>WATCH FOR: do not let this segment run past 0:09. It overruns more than any other.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Reveal 5 of 5 - Temperature.</a:t>
            </a:r>
          </a:p>
          <a:p/>
          <a:p>
            <a:r>
              <a:t>Prove it live on camera: Hold it in a closed fist.</a:t>
            </a:r>
          </a:p>
          <a:p/>
          <a:p>
            <a:r>
              <a:t>Advance one sense at a time as children guess them. React to every correct guess.</a:t>
            </a:r>
          </a:p>
          <a:p/>
          <a:p>
            <a:r>
              <a:t>WATCH FOR: do not let this segment run past 0:09. It overruns more than any other.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0:03-0:09  THE PIVOT. Say it exactly - this is the hinge into the build.</a:t>
            </a:r>
          </a:p>
          <a:p/>
          <a:p>
            <a:r>
              <a:t>SAY: "Here's the thing though - it does absolutely nothing until somebody tells it what to do. That somebody is about to be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LIVE CODE-ALONG opens here.</a:t>
            </a:r>
          </a:p>
          <a:p/>
          <a:p>
            <a:r>
              <a:t>Moderator posts snippet C1 now, and re-posts every 2 minutes for late joiners.</a:t>
            </a:r>
          </a:p>
          <a:p/>
          <a:p>
            <a:r>
              <a:t>Share your screen with browser zoom at 125-150% - default block size is unreadable on a phone or a split screen.</a:t>
            </a:r>
          </a:p>
          <a:p/>
          <a:p>
            <a:r>
              <a:t>WATCH FOR: wait for the "1"s. Do not talk over this. A child who falls behind here is lost for the whole build.</a:t>
            </a:r>
          </a:p>
          <a:p/>
          <a:p>
            <a:r>
              <a:t>If someone 'loses' their project by refreshing: MakeCode auto-saves, it's on the home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Block 1 of 4.</a:t>
            </a:r>
          </a:p>
          <a:p/>
          <a:p>
            <a:r>
              <a:t>After this one: "That's a program. You've written a program. It's been ninety seconds."</a:t>
            </a:r>
          </a:p>
          <a:p/>
          <a:p>
            <a:r>
              <a:t>v2 note: 'on logo pressed' and 'play sound' are micro:bit v2 features. The simulator defaults to v2 - do not switch it to v1.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Block 2 of 4.</a:t>
            </a:r>
          </a:p>
          <a:p/>
          <a:p>
            <a:r>
              <a:t>Type 'wake up' into the string. And: "click the A button on the simulator, not on your keyboard."</a:t>
            </a:r>
          </a:p>
          <a:p/>
          <a:p>
            <a:r>
              <a:t>v2 note: 'on logo pressed' and 'play sound' are micro:bit v2 features. The simulator defaults to v2 - do not switch it to v1.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Block 3 of 4.</a:t>
            </a:r>
          </a:p>
          <a:p/>
          <a:p>
            <a:r>
              <a:t>'on shake' is in Input, under the buttons - fire it with the SHAKE button on the simulator board, not by shaking a mouse. Remind everyone to turn their own device volume up - silence reads as a bug to an 8-year-old.</a:t>
            </a:r>
          </a:p>
          <a:p/>
          <a:p>
            <a:r>
              <a:t>v2 note: 'on logo pressed' and 'play sound' are micro:bit v2 features. The simulator defaults to v2 - do not switch it to v1.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Block 4 of 4.</a:t>
            </a:r>
          </a:p>
          <a:p/>
          <a:p>
            <a:r>
              <a:t>Name the difference out loud: show string SCROLLS, show leds HOLDS. There is no built-in bear icon - draw one with show leds, square by square: ears in the two top corners, a closed outline of the face, an eye tucked inside each side, and the snout between them. Same reference bear as mission 000.</a:t>
            </a:r>
          </a:p>
          <a:p/>
          <a:p>
            <a:r>
              <a:t>v2 note: 'on logo pressed' and 'play sound' are micro:bit v2 features. The simulator defaults to v2 - do not switch it to v1.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THE DELIBERATE MISTAKE, around 0:15.</a:t>
            </a:r>
          </a:p>
          <a:p/>
          <a:p>
            <a:r>
              <a:t>Drop 'play sound' into 'on start' instead of 'on shake'. Run it. The sound fires at launch and shaking does nothing.</a:t>
            </a:r>
          </a:p>
          <a:p/>
          <a:p>
            <a:r>
              <a:t>SAY: "Hang on. I shook it and nothing happened. But the sound definitely played... it played when the program started. So the block isn't broken - I put it in the wrong container. The computer did exactly what I told it, not what I meant."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0:09-0:21  THE DELIBERATE MISTAKE, around 0:15.</a:t>
            </a:r>
          </a:p>
          <a:p/>
          <a:p>
            <a:r>
              <a:t>Drop 'play sound' into 'on start' instead of 'on shake'. Run it. The sound fires at launch and shaking does nothing.</a:t>
            </a:r>
          </a:p>
          <a:p/>
          <a:p>
            <a:r>
              <a:t>SAY: "Hang on. I shook it and nothing happened. But the sound definitely played... it played when the program started. So the block isn't broken - I put it in the wrong container. The computer did exactly what I told it, not what I meant."</a:t>
            </a:r>
          </a:p>
          <a:p/>
          <a:p>
            <a:r>
              <a:t>Now drag it across, re-run, celebrate.</a:t>
            </a:r>
          </a:p>
          <a:p/>
          <a:p>
            <a:r>
              <a:t>SAY: "See, even I mess this up. That's called debugging, and it's honestly half of what we do together in the real class."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0:21-0:31  INDEPENDENT WORK - ten minutes.</a:t>
            </a:r>
          </a:p>
          <a:p/>
          <a:p>
            <a:r>
              <a:t>SAY: "Green is the goal. Yellow is if you finish green. Red is if you want me to be impressed. You do not have to reach red - red is what Session 2 of the real class looks like."</a:t>
            </a:r>
          </a:p>
          <a:p/>
          <a:p>
            <a:r>
              <a:t>START THE TIMER. Google Slides has no built-in countdown: run a timer app on your second screen, or insert a 10-minute countdown video onto this slide after upload.</a:t>
            </a:r>
          </a:p>
          <a:p/>
          <a:p>
            <a:r>
              <a:t>Both host and moderator work the chat for the full ten minutes. Answer with a question first: "What did you expect it to do, and what did it do?"</a:t>
            </a:r>
          </a:p>
          <a:p/>
          <a:p>
            <a:r>
              <a:t>PICK YOUR SHOW &amp; TELL PRESENTERS NOW and DM them - a Core finisher, a Stretch finisher, and one visible bug-fixer. Screenshot their work as insurance.</a:t>
            </a:r>
          </a:p>
          <a:p/>
          <a:p>
            <a:r>
              <a:t>Call the clock at 0:26, 0:29 and 0:30.</a:t>
            </a:r>
          </a:p>
          <a:p/>
          <a:p>
            <a:r>
              <a:t>WATCH FOR: a silent child by 0:24 - moderator DMs directly. Usually a blank project or the simulator scrolled off screen.</a:t>
            </a:r>
          </a:p>
          <a:p>
            <a:r>
              <a:t>WATCH FOR: Boss-tier classic - three 'show leds' with no 'pause', so only the last shows. Let them hit it, then ask what's missing.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0:31-0:38  SHOW &amp; TELL. 3-4 children, ~90 seconds each. Ask these two questions only, then give a SPECIFIC callout - never a generic "great job".</a:t>
            </a:r>
          </a:p>
          <a:p/>
          <a:p>
            <a:r>
              <a:t>EXAMPLE: "I love that you made it flash before the name scrolls - that's a timing decision, and you made it on purpose."</a:t>
            </a:r>
          </a:p>
          <a:p/>
          <a:p>
            <a:r>
              <a:t>WATCH FOR: never put a child on the spot live - presenters were DM'd during the previous segment. Do not ask children to generate a MakeCode public share link.</a:t>
            </a:r>
          </a:p>
          <a:p/>
          <a:p>
            <a:r>
              <a:t>If nobody volunteers: present two children's work yourself, with credit, from the screenshots the moderator grabbed.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0:31-0:38  SHOUTOUTS. Announce these as descriptions, not rankings. Every one to a different child. Keep them non-competitive.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0:38-0:44  SNEAK PEEK - play the 60-90 second mission 110 clip here: the overnight investigation. A child leaves the micro:bit in their bedroom all night logging light, temperature and sound, then opens the chart the next morning and narrates what they found.</a:t>
            </a:r>
          </a:p>
          <a:p/>
          <a:p>
            <a:r>
              <a:t>Replace this placeholder box with the clip after uploading to Google Slides (Insert &gt; Video), or play it from a separate tab and share that tab WITH AUDIO.</a:t>
            </a:r>
          </a:p>
          <a:p/>
          <a:p>
            <a:r>
              <a:t>Real footage of real children beats a live demo; a live demo beats nothing.</a:t>
            </a:r>
          </a:p>
          <a:p/>
          <a:p>
            <a:r>
              <a:t>WATCH FOR: if it won't play, open a saved overnight log and read the chart live. Never burn 90 seconds troubleshooting a video.</a:t>
            </a:r>
          </a:p>
          <a:p/>
          <a:p>
            <a:r>
              <a:t>NO prices, no dates, no urgency in this segment. The gap between the demo and the offer is what makes the offer land.</a:t>
            </a:r>
          </a:p>
          <a:p/>
          <a:p>
            <a:r>
              <a:t>Keep the peek inside Quest 00 - the micro:bit on its own. Do not reach for the rover or the radio pack for a bigger reaction: those are later quests with their own kits, and this family is not about to buy them.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0:38-0:44  THE CEILING.</a:t>
            </a:r>
          </a:p>
          <a:p/>
          <a:p>
            <a:r>
              <a:t>SAY: "That bear you just made? That's the first session. By session seven your micro:bit is sitting in your bedroom all night on its own, writing down what the light and the temperature and the noise are doing, and in the morning you open the chart and find out what actually happens in your room while you're asleep. And in the very last session you build your own invention - a reaction timer, a step counter, a dice, whatever you pick - and you show it to everybody on Demo Day and tell them about the one bug that nearly beat you."</a:t>
            </a:r>
          </a:p>
          <a:p/>
          <a:p>
            <a:r>
              <a:t>Then bring it back: "Everything in that clip is built on exactly what you did in the last half hour - an event, a block inside it, and a bug you fixed."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0:44-0:49  THE OFFER.</a:t>
            </a:r>
          </a:p>
          <a:p/>
          <a:p>
            <a:r>
              <a:t>Say the audience shift out loud: "This next bit is for the grown-ups; kids, you can keep tinkering."</a:t>
            </a:r>
          </a:p>
          <a:p/>
          <a:p>
            <a:r>
              <a:t>ONE BREATH: "What we just did is the taster. The full thing is Maker Level: eight live sessions, small pods of four children, and one simple kit shipped to your door - a micro:bit, a battery pack and a cable, nothing to buy separately. Ages 8 to 11. Every session ends with something that works, and the last one is Demo Day."</a:t>
            </a:r>
          </a:p>
          <a:p/>
          <a:p>
            <a:r>
              <a:t>Hold the price back until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0:44-0:49  THE OFFER.</a:t>
            </a:r>
          </a:p>
          <a:p/>
          <a:p>
            <a:r>
              <a:t>Say the audience shift out loud: "This next bit is for the grown-ups; kids, you can keep tinkering."</a:t>
            </a:r>
          </a:p>
          <a:p/>
          <a:p>
            <a:r>
              <a:t>ONE BREATH: "What we just did is the taster. The full thing is Maker Level: eight live sessions, small pods of four children, and one simple kit shipped to your door - a micro:bit, a battery pack and a cable, nothing to buy separately. Ages 8 to 11. Every session ends with something that works, and the last one is Demo Day."</a:t>
            </a:r>
          </a:p>
          <a:p/>
          <a:p>
            <a:r>
              <a:t>STATE IT ONCE, then stop: "For families on this workshop only, it's [PRICE] with the code [CODE], and that closes [DEADLINE]. The link is in the chat."</a:t>
            </a:r>
          </a:p>
          <a:p/>
          <a:p>
            <a:r>
              <a:t>Moderator posts C4 the moment you say "the link is in the chat" - not before, not 30 seconds later.</a:t>
            </a:r>
          </a:p>
          <a:p/>
          <a:p>
            <a:r>
              <a:t>Then take parent questions. The three that always come: does my child need the hardware (no), what if they miss a session (recorded, and caught up at the start of the next), too advanced or too easy (Core / Stretch / Boss every week).</a:t>
            </a:r>
          </a:p>
          <a:p/>
          <a:p>
            <a:r>
              <a:t>WATCH FOR: do not re-explain the offer, extend the deadline live, or answer a pricing question with a discount.</a:t>
            </a:r>
          </a:p>
          <a:p/>
          <a:p>
            <a:r>
              <a:t>FILL IN [PRICE], [CODE] and [DEADLINE] BEFORE THE FIRST RUN.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0:49-0:50  SEND-OFF.</a:t>
            </a:r>
          </a:p>
          <a:p/>
          <a:p>
            <a:r>
              <a:t>SAY: "Last thing - everyone hold up your screen with your bear on it. Ready? Say cheese!"</a:t>
            </a:r>
          </a:p>
          <a:p/>
          <a:p>
            <a:r>
              <a:t>Screenshot the gallery. Consent is already on file from the booking form; crop any declining family before the image is used anywhere. Thank families by name.</a:t>
            </a:r>
          </a:p>
          <a:p/>
          <a:p>
            <a:r>
              <a:t>END ON TIME. A workshop that runs to 0:57 teaches parents that your sessions overrun.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757"/>
        </a:solidFill>
        <a:effectLst/>
      </p:bgPr>
    </p:bg>
    <p:spTree>
      <p:nvGrpSpPr>
        <p:cNvPr id="1" name=""/>
        <p:cNvGrpSpPr/>
        <p:nvPr/>
      </p:nvGrpSpPr>
      <p:grpSpPr/>
      <p:sp>
        <p:nvSpPr>
          <p:cNvPr id="2" name="TextBox 1"/>
          <p:cNvSpPr txBox="1"/>
          <p:nvPr/>
        </p:nvSpPr>
        <p:spPr>
          <a:xfrm>
            <a:off x="822960" y="777240"/>
            <a:ext cx="10545775" cy="320040"/>
          </a:xfrm>
          <a:prstGeom prst="rect">
            <a:avLst/>
          </a:prstGeom>
          <a:noFill/>
        </p:spPr>
        <p:txBody>
          <a:bodyPr wrap="square" anchor="t" lIns="0" rIns="0" tIns="0" bIns="0">
            <a:spAutoFit/>
          </a:bodyPr>
          <a:lstStyle/>
          <a:p>
            <a:pPr algn="ctr"/>
            <a:r>
              <a:rPr sz="1400" b="1">
                <a:solidFill>
                  <a:srgbClr val="F59A23"/>
                </a:solidFill>
                <a:latin typeface="Poppins"/>
              </a:rPr>
              <a:t>BYTEBEAR ACADEMY  ·  FREE MICRO:BIT WORKSHOP</a:t>
            </a:r>
          </a:p>
        </p:txBody>
      </p:sp>
      <p:sp>
        <p:nvSpPr>
          <p:cNvPr id="3" name="TextBox 2"/>
          <p:cNvSpPr txBox="1"/>
          <p:nvPr/>
        </p:nvSpPr>
        <p:spPr>
          <a:xfrm>
            <a:off x="822960" y="1234440"/>
            <a:ext cx="10545775" cy="1188720"/>
          </a:xfrm>
          <a:prstGeom prst="rect">
            <a:avLst/>
          </a:prstGeom>
          <a:noFill/>
        </p:spPr>
        <p:txBody>
          <a:bodyPr wrap="square" anchor="t" lIns="0" rIns="0" tIns="0" bIns="0">
            <a:spAutoFit/>
          </a:bodyPr>
          <a:lstStyle/>
          <a:p>
            <a:pPr algn="ctr">
              <a:lnSpc>
                <a:spcPct val="104000"/>
              </a:lnSpc>
            </a:pPr>
            <a:r>
              <a:rPr sz="7600" b="1">
                <a:solidFill>
                  <a:srgbClr val="FFFFFF"/>
                </a:solidFill>
                <a:latin typeface="Poppins"/>
              </a:rPr>
              <a:t>Wake Up Your Bear</a:t>
            </a:r>
          </a:p>
        </p:txBody>
      </p:sp>
      <p:sp>
        <p:nvSpPr>
          <p:cNvPr id="4" name="TextBox 3"/>
          <p:cNvSpPr txBox="1"/>
          <p:nvPr/>
        </p:nvSpPr>
        <p:spPr>
          <a:xfrm>
            <a:off x="822960" y="2514600"/>
            <a:ext cx="10545775" cy="914400"/>
          </a:xfrm>
          <a:prstGeom prst="rect">
            <a:avLst/>
          </a:prstGeom>
          <a:noFill/>
        </p:spPr>
        <p:txBody>
          <a:bodyPr wrap="square" anchor="t" lIns="0" rIns="0" tIns="0" bIns="0">
            <a:spAutoFit/>
          </a:bodyPr>
          <a:lstStyle/>
          <a:p>
            <a:pPr algn="ctr">
              <a:lnSpc>
                <a:spcPct val="130000"/>
              </a:lnSpc>
            </a:pPr>
            <a:r>
              <a:rPr sz="2400" b="0">
                <a:solidFill>
                  <a:srgbClr val="D7DCEF"/>
                </a:solidFill>
                <a:latin typeface="Nunito"/>
              </a:rPr>
              <a:t>In the next 45 minutes you'll write a real program that lights up,
scrolls your name and makes a noise.</a:t>
            </a:r>
          </a:p>
        </p:txBody>
      </p:sp>
      <p:sp>
        <p:nvSpPr>
          <p:cNvPr id="5" name="Rounded Rectangle 4"/>
          <p:cNvSpPr/>
          <p:nvPr/>
        </p:nvSpPr>
        <p:spPr>
          <a:xfrm>
            <a:off x="5117439" y="3657600"/>
            <a:ext cx="1956816" cy="2299715"/>
          </a:xfrm>
          <a:prstGeom prst="roundRect">
            <a:avLst>
              <a:gd name="adj" fmla="val 12000"/>
            </a:avLst>
          </a:prstGeom>
          <a:solidFill>
            <a:srgbClr val="1616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263743" y="3803904"/>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5611215" y="3803904"/>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5958687" y="3803904"/>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306159" y="3803904"/>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653631" y="3803904"/>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263743" y="4219956"/>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611215" y="42199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958687" y="4219956"/>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306159" y="42199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653631" y="4219956"/>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263743" y="4636008"/>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611215" y="4636008"/>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5958687" y="4636008"/>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306159" y="4636008"/>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653631" y="4636008"/>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263743" y="5052060"/>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5611215" y="5052060"/>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5958687" y="5052060"/>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6306159" y="5052060"/>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6653631" y="5052060"/>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263743" y="5468112"/>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5611215" y="5468112"/>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5958687" y="5468112"/>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ounded Rectangle 28"/>
          <p:cNvSpPr/>
          <p:nvPr/>
        </p:nvSpPr>
        <p:spPr>
          <a:xfrm>
            <a:off x="6306159" y="5468112"/>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653631" y="5468112"/>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22960" y="6172200"/>
            <a:ext cx="10545775" cy="365760"/>
          </a:xfrm>
          <a:prstGeom prst="rect">
            <a:avLst/>
          </a:prstGeom>
          <a:noFill/>
        </p:spPr>
        <p:txBody>
          <a:bodyPr wrap="square" anchor="t" lIns="0" rIns="0" tIns="0" bIns="0">
            <a:spAutoFit/>
          </a:bodyPr>
          <a:lstStyle/>
          <a:p>
            <a:pPr algn="ctr"/>
            <a:r>
              <a:rPr sz="1600" b="0">
                <a:solidFill>
                  <a:srgbClr val="9AA4C8"/>
                </a:solidFill>
                <a:latin typeface="Nunito"/>
              </a:rPr>
              <a:t>Ages 8–11   ·   Nothing to download   ·   Nothing to buy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188720"/>
            <a:ext cx="10545775" cy="320040"/>
          </a:xfrm>
          <a:prstGeom prst="rect">
            <a:avLst/>
          </a:prstGeom>
          <a:noFill/>
        </p:spPr>
        <p:txBody>
          <a:bodyPr wrap="square" anchor="t" lIns="0" rIns="0" tIns="0" bIns="0">
            <a:spAutoFit/>
          </a:bodyPr>
          <a:lstStyle/>
          <a:p>
            <a:pPr algn="ctr"/>
            <a:r>
              <a:rPr sz="1400" b="1">
                <a:solidFill>
                  <a:srgbClr val="0D8783"/>
                </a:solidFill>
                <a:latin typeface="Poppins"/>
              </a:rPr>
              <a:t>FIRST THINGS FIRST</a:t>
            </a:r>
          </a:p>
        </p:txBody>
      </p:sp>
      <p:sp>
        <p:nvSpPr>
          <p:cNvPr id="3" name="TextBox 2"/>
          <p:cNvSpPr txBox="1"/>
          <p:nvPr/>
        </p:nvSpPr>
        <p:spPr>
          <a:xfrm>
            <a:off x="822960" y="1828800"/>
            <a:ext cx="10545775" cy="2926080"/>
          </a:xfrm>
          <a:prstGeom prst="rect">
            <a:avLst/>
          </a:prstGeom>
          <a:noFill/>
        </p:spPr>
        <p:txBody>
          <a:bodyPr wrap="square" anchor="t" lIns="0" rIns="0" tIns="0" bIns="0">
            <a:spAutoFit/>
          </a:bodyPr>
          <a:lstStyle/>
          <a:p>
            <a:pPr algn="ctr">
              <a:lnSpc>
                <a:spcPct val="104000"/>
              </a:lnSpc>
            </a:pPr>
            <a:r>
              <a:rPr sz="6000" b="1">
                <a:solidFill>
                  <a:srgbClr val="1C2757"/>
                </a:solidFill>
                <a:latin typeface="Poppins"/>
              </a:rPr>
              <a:t>Type your name
and your age
in the chat  👋</a:t>
            </a:r>
          </a:p>
        </p:txBody>
      </p:sp>
      <p:sp>
        <p:nvSpPr>
          <p:cNvPr id="4" name="TextBox 3"/>
          <p:cNvSpPr txBox="1"/>
          <p:nvPr/>
        </p:nvSpPr>
        <p:spPr>
          <a:xfrm>
            <a:off x="822960" y="5120640"/>
            <a:ext cx="10545775" cy="822960"/>
          </a:xfrm>
          <a:prstGeom prst="rect">
            <a:avLst/>
          </a:prstGeom>
          <a:noFill/>
        </p:spPr>
        <p:txBody>
          <a:bodyPr wrap="square" anchor="t" lIns="0" rIns="0" tIns="0" bIns="0">
            <a:spAutoFit/>
          </a:bodyPr>
          <a:lstStyle/>
          <a:p>
            <a:pPr algn="ctr">
              <a:lnSpc>
                <a:spcPct val="115000"/>
              </a:lnSpc>
            </a:pPr>
            <a:r>
              <a:rPr sz="2400" b="1">
                <a:solidFill>
                  <a:srgbClr val="7431F0"/>
                </a:solidFill>
                <a:latin typeface="Poppins"/>
              </a:rPr>
              <a:t>Go on — right now. We'll wait.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A29D"/>
        </a:solidFill>
        <a:effectLst/>
      </p:bgPr>
    </p:bg>
    <p:spTree>
      <p:nvGrpSpPr>
        <p:cNvPr id="1" name=""/>
        <p:cNvGrpSpPr/>
        <p:nvPr/>
      </p:nvGrpSpPr>
      <p:grpSpPr/>
      <p:sp>
        <p:nvSpPr>
          <p:cNvPr id="2" name="TextBox 1"/>
          <p:cNvSpPr txBox="1"/>
          <p:nvPr/>
        </p:nvSpPr>
        <p:spPr>
          <a:xfrm>
            <a:off x="822960" y="1051560"/>
            <a:ext cx="10545775" cy="320040"/>
          </a:xfrm>
          <a:prstGeom prst="rect">
            <a:avLst/>
          </a:prstGeom>
          <a:noFill/>
        </p:spPr>
        <p:txBody>
          <a:bodyPr wrap="square" anchor="t" lIns="0" rIns="0" tIns="0" bIns="0">
            <a:spAutoFit/>
          </a:bodyPr>
          <a:lstStyle/>
          <a:p>
            <a:pPr algn="ctr"/>
            <a:r>
              <a:rPr sz="1400" b="1">
                <a:solidFill>
                  <a:srgbClr val="BFE8E6"/>
                </a:solidFill>
                <a:latin typeface="Poppins"/>
              </a:rPr>
              <a:t>MEET YOUR MICRO-COMPUTER</a:t>
            </a:r>
          </a:p>
        </p:txBody>
      </p:sp>
      <p:sp>
        <p:nvSpPr>
          <p:cNvPr id="3" name="TextBox 2"/>
          <p:cNvSpPr txBox="1"/>
          <p:nvPr/>
        </p:nvSpPr>
        <p:spPr>
          <a:xfrm>
            <a:off x="822960" y="1645920"/>
            <a:ext cx="10545775" cy="2194560"/>
          </a:xfrm>
          <a:prstGeom prst="rect">
            <a:avLst/>
          </a:prstGeom>
          <a:noFill/>
        </p:spPr>
        <p:txBody>
          <a:bodyPr wrap="square" anchor="t" lIns="0" rIns="0" tIns="0" bIns="0">
            <a:spAutoFit/>
          </a:bodyPr>
          <a:lstStyle/>
          <a:p>
            <a:pPr algn="ctr">
              <a:lnSpc>
                <a:spcPct val="104000"/>
              </a:lnSpc>
            </a:pPr>
            <a:r>
              <a:rPr sz="6400" b="1">
                <a:solidFill>
                  <a:srgbClr val="FFFFFF"/>
                </a:solidFill>
                <a:latin typeface="Poppins"/>
              </a:rPr>
              <a:t>What do you think
this can sense?</a:t>
            </a:r>
          </a:p>
        </p:txBody>
      </p:sp>
      <p:sp>
        <p:nvSpPr>
          <p:cNvPr id="4" name="TextBox 3"/>
          <p:cNvSpPr txBox="1"/>
          <p:nvPr/>
        </p:nvSpPr>
        <p:spPr>
          <a:xfrm>
            <a:off x="822960" y="4114800"/>
            <a:ext cx="10545775" cy="914400"/>
          </a:xfrm>
          <a:prstGeom prst="rect">
            <a:avLst/>
          </a:prstGeom>
          <a:noFill/>
        </p:spPr>
        <p:txBody>
          <a:bodyPr wrap="square" anchor="t" lIns="0" rIns="0" tIns="0" bIns="0">
            <a:spAutoFit/>
          </a:bodyPr>
          <a:lstStyle/>
          <a:p>
            <a:pPr algn="ctr">
              <a:lnSpc>
                <a:spcPct val="130000"/>
              </a:lnSpc>
            </a:pPr>
            <a:r>
              <a:rPr sz="2400" b="0">
                <a:solidFill>
                  <a:srgbClr val="E4F5F4"/>
                </a:solidFill>
                <a:latin typeface="Nunito"/>
              </a:rPr>
              <a:t>Smaller than a credit card. Cheaper than a pizza.
Basically a robot brain.</a:t>
            </a:r>
          </a:p>
        </p:txBody>
      </p:sp>
      <p:sp>
        <p:nvSpPr>
          <p:cNvPr id="5" name="TextBox 4"/>
          <p:cNvSpPr txBox="1"/>
          <p:nvPr/>
        </p:nvSpPr>
        <p:spPr>
          <a:xfrm>
            <a:off x="822960" y="5394960"/>
            <a:ext cx="10545775" cy="822960"/>
          </a:xfrm>
          <a:prstGeom prst="rect">
            <a:avLst/>
          </a:prstGeom>
          <a:noFill/>
        </p:spPr>
        <p:txBody>
          <a:bodyPr wrap="square" anchor="t" lIns="0" rIns="0" tIns="0" bIns="0">
            <a:spAutoFit/>
          </a:bodyPr>
          <a:lstStyle/>
          <a:p>
            <a:pPr algn="ctr">
              <a:lnSpc>
                <a:spcPct val="115000"/>
              </a:lnSpc>
            </a:pPr>
            <a:r>
              <a:rPr sz="2400" b="1">
                <a:solidFill>
                  <a:srgbClr val="FFFFFF"/>
                </a:solidFill>
                <a:latin typeface="Poppins"/>
              </a:rPr>
              <a:t>Guess in the chat — anything at 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IT CAN SENSE FIVE THINGS</a:t>
            </a:r>
          </a:p>
        </p:txBody>
      </p:sp>
      <p:sp>
        <p:nvSpPr>
          <p:cNvPr id="3" name="TextBox 2"/>
          <p:cNvSpPr txBox="1"/>
          <p:nvPr/>
        </p:nvSpPr>
        <p:spPr>
          <a:xfrm>
            <a:off x="822960" y="1143000"/>
            <a:ext cx="10545775" cy="731520"/>
          </a:xfrm>
          <a:prstGeom prst="rect">
            <a:avLst/>
          </a:prstGeom>
          <a:noFill/>
        </p:spPr>
        <p:txBody>
          <a:bodyPr wrap="square" anchor="t" lIns="0" rIns="0" tIns="0" bIns="0">
            <a:spAutoFit/>
          </a:bodyPr>
          <a:lstStyle/>
          <a:p>
            <a:pPr algn="l">
              <a:lnSpc>
                <a:spcPct val="104000"/>
              </a:lnSpc>
            </a:pPr>
            <a:r>
              <a:rPr sz="4000" b="1">
                <a:solidFill>
                  <a:srgbClr val="E5E8F4"/>
                </a:solidFill>
                <a:latin typeface="Poppins"/>
              </a:rPr>
              <a:t>1 of 5</a:t>
            </a:r>
          </a:p>
        </p:txBody>
      </p:sp>
      <p:sp>
        <p:nvSpPr>
          <p:cNvPr id="4" name="Rounded Rectangle 3"/>
          <p:cNvSpPr/>
          <p:nvPr/>
        </p:nvSpPr>
        <p:spPr>
          <a:xfrm>
            <a:off x="82296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4855464"/>
            <a:ext cx="1926275"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24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Light</a:t>
            </a:r>
          </a:p>
          <a:p>
            <a:pPr algn="ctr">
              <a:lnSpc>
                <a:spcPct val="125000"/>
              </a:lnSpc>
            </a:pPr>
            <a:r>
              <a:rPr sz="1500" b="0">
                <a:solidFill>
                  <a:srgbClr val="57628C"/>
                </a:solidFill>
                <a:latin typeface="Nunito"/>
              </a:rPr>
              <a:t>How bright
the room is</a:t>
            </a:r>
          </a:p>
        </p:txBody>
      </p:sp>
      <p:sp>
        <p:nvSpPr>
          <p:cNvPr id="7" name="Rounded Rectangle 6"/>
          <p:cNvSpPr/>
          <p:nvPr/>
        </p:nvSpPr>
        <p:spPr>
          <a:xfrm>
            <a:off x="2977835"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77835"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
        <p:nvSpPr>
          <p:cNvPr id="9" name="Rounded Rectangle 8"/>
          <p:cNvSpPr/>
          <p:nvPr/>
        </p:nvSpPr>
        <p:spPr>
          <a:xfrm>
            <a:off x="5132710"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132710"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
        <p:nvSpPr>
          <p:cNvPr id="11" name="Rounded Rectangle 10"/>
          <p:cNvSpPr/>
          <p:nvPr/>
        </p:nvSpPr>
        <p:spPr>
          <a:xfrm>
            <a:off x="7287585"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287585"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
        <p:nvSpPr>
          <p:cNvPr id="13" name="Rounded Rectangle 12"/>
          <p:cNvSpPr/>
          <p:nvPr/>
        </p:nvSpPr>
        <p:spPr>
          <a:xfrm>
            <a:off x="9442460"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442460"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IT CAN SENSE FIVE THINGS</a:t>
            </a:r>
          </a:p>
        </p:txBody>
      </p:sp>
      <p:sp>
        <p:nvSpPr>
          <p:cNvPr id="3" name="TextBox 2"/>
          <p:cNvSpPr txBox="1"/>
          <p:nvPr/>
        </p:nvSpPr>
        <p:spPr>
          <a:xfrm>
            <a:off x="822960" y="1143000"/>
            <a:ext cx="10545775" cy="731520"/>
          </a:xfrm>
          <a:prstGeom prst="rect">
            <a:avLst/>
          </a:prstGeom>
          <a:noFill/>
        </p:spPr>
        <p:txBody>
          <a:bodyPr wrap="square" anchor="t" lIns="0" rIns="0" tIns="0" bIns="0">
            <a:spAutoFit/>
          </a:bodyPr>
          <a:lstStyle/>
          <a:p>
            <a:pPr algn="l">
              <a:lnSpc>
                <a:spcPct val="104000"/>
              </a:lnSpc>
            </a:pPr>
            <a:r>
              <a:rPr sz="4000" b="1">
                <a:solidFill>
                  <a:srgbClr val="E5E8F4"/>
                </a:solidFill>
                <a:latin typeface="Poppins"/>
              </a:rPr>
              <a:t>2 of 5</a:t>
            </a:r>
          </a:p>
        </p:txBody>
      </p:sp>
      <p:sp>
        <p:nvSpPr>
          <p:cNvPr id="4" name="Rounded Rectangle 3"/>
          <p:cNvSpPr/>
          <p:nvPr/>
        </p:nvSpPr>
        <p:spPr>
          <a:xfrm>
            <a:off x="82296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4855464"/>
            <a:ext cx="1926275"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24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Light</a:t>
            </a:r>
          </a:p>
          <a:p>
            <a:pPr algn="ctr">
              <a:lnSpc>
                <a:spcPct val="125000"/>
              </a:lnSpc>
            </a:pPr>
            <a:r>
              <a:rPr sz="1500" b="0">
                <a:solidFill>
                  <a:srgbClr val="57628C"/>
                </a:solidFill>
                <a:latin typeface="Nunito"/>
              </a:rPr>
              <a:t>How bright
the room is</a:t>
            </a:r>
          </a:p>
        </p:txBody>
      </p:sp>
      <p:sp>
        <p:nvSpPr>
          <p:cNvPr id="7" name="Rounded Rectangle 6"/>
          <p:cNvSpPr/>
          <p:nvPr/>
        </p:nvSpPr>
        <p:spPr>
          <a:xfrm>
            <a:off x="2977835"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2977835" y="4855464"/>
            <a:ext cx="1926275" cy="128016"/>
          </a:xfrm>
          <a:prstGeom prst="rect">
            <a:avLst/>
          </a:prstGeom>
          <a:solidFill>
            <a:srgbClr val="12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2123"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Sound</a:t>
            </a:r>
          </a:p>
          <a:p>
            <a:pPr algn="ctr">
              <a:lnSpc>
                <a:spcPct val="125000"/>
              </a:lnSpc>
            </a:pPr>
            <a:r>
              <a:rPr sz="1500" b="0">
                <a:solidFill>
                  <a:srgbClr val="57628C"/>
                </a:solidFill>
                <a:latin typeface="Nunito"/>
              </a:rPr>
              <a:t>It hears
you clap</a:t>
            </a:r>
          </a:p>
        </p:txBody>
      </p:sp>
      <p:sp>
        <p:nvSpPr>
          <p:cNvPr id="10" name="Rounded Rectangle 9"/>
          <p:cNvSpPr/>
          <p:nvPr/>
        </p:nvSpPr>
        <p:spPr>
          <a:xfrm>
            <a:off x="5132710"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132710"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
        <p:nvSpPr>
          <p:cNvPr id="12" name="Rounded Rectangle 11"/>
          <p:cNvSpPr/>
          <p:nvPr/>
        </p:nvSpPr>
        <p:spPr>
          <a:xfrm>
            <a:off x="7287585"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287585"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
        <p:nvSpPr>
          <p:cNvPr id="14" name="Rounded Rectangle 13"/>
          <p:cNvSpPr/>
          <p:nvPr/>
        </p:nvSpPr>
        <p:spPr>
          <a:xfrm>
            <a:off x="9442460"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442460"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IT CAN SENSE FIVE THINGS</a:t>
            </a:r>
          </a:p>
        </p:txBody>
      </p:sp>
      <p:sp>
        <p:nvSpPr>
          <p:cNvPr id="3" name="TextBox 2"/>
          <p:cNvSpPr txBox="1"/>
          <p:nvPr/>
        </p:nvSpPr>
        <p:spPr>
          <a:xfrm>
            <a:off x="822960" y="1143000"/>
            <a:ext cx="10545775" cy="731520"/>
          </a:xfrm>
          <a:prstGeom prst="rect">
            <a:avLst/>
          </a:prstGeom>
          <a:noFill/>
        </p:spPr>
        <p:txBody>
          <a:bodyPr wrap="square" anchor="t" lIns="0" rIns="0" tIns="0" bIns="0">
            <a:spAutoFit/>
          </a:bodyPr>
          <a:lstStyle/>
          <a:p>
            <a:pPr algn="l">
              <a:lnSpc>
                <a:spcPct val="104000"/>
              </a:lnSpc>
            </a:pPr>
            <a:r>
              <a:rPr sz="4000" b="1">
                <a:solidFill>
                  <a:srgbClr val="E5E8F4"/>
                </a:solidFill>
                <a:latin typeface="Poppins"/>
              </a:rPr>
              <a:t>3 of 5</a:t>
            </a:r>
          </a:p>
        </p:txBody>
      </p:sp>
      <p:sp>
        <p:nvSpPr>
          <p:cNvPr id="4" name="Rounded Rectangle 3"/>
          <p:cNvSpPr/>
          <p:nvPr/>
        </p:nvSpPr>
        <p:spPr>
          <a:xfrm>
            <a:off x="82296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4855464"/>
            <a:ext cx="1926275"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24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Light</a:t>
            </a:r>
          </a:p>
          <a:p>
            <a:pPr algn="ctr">
              <a:lnSpc>
                <a:spcPct val="125000"/>
              </a:lnSpc>
            </a:pPr>
            <a:r>
              <a:rPr sz="1500" b="0">
                <a:solidFill>
                  <a:srgbClr val="57628C"/>
                </a:solidFill>
                <a:latin typeface="Nunito"/>
              </a:rPr>
              <a:t>How bright
the room is</a:t>
            </a:r>
          </a:p>
        </p:txBody>
      </p:sp>
      <p:sp>
        <p:nvSpPr>
          <p:cNvPr id="7" name="Rounded Rectangle 6"/>
          <p:cNvSpPr/>
          <p:nvPr/>
        </p:nvSpPr>
        <p:spPr>
          <a:xfrm>
            <a:off x="2977835"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2977835" y="4855464"/>
            <a:ext cx="1926275" cy="128016"/>
          </a:xfrm>
          <a:prstGeom prst="rect">
            <a:avLst/>
          </a:prstGeom>
          <a:solidFill>
            <a:srgbClr val="12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2123"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Sound</a:t>
            </a:r>
          </a:p>
          <a:p>
            <a:pPr algn="ctr">
              <a:lnSpc>
                <a:spcPct val="125000"/>
              </a:lnSpc>
            </a:pPr>
            <a:r>
              <a:rPr sz="1500" b="0">
                <a:solidFill>
                  <a:srgbClr val="57628C"/>
                </a:solidFill>
                <a:latin typeface="Nunito"/>
              </a:rPr>
              <a:t>It hears
you clap</a:t>
            </a:r>
          </a:p>
        </p:txBody>
      </p:sp>
      <p:sp>
        <p:nvSpPr>
          <p:cNvPr id="10" name="Rounded Rectangle 9"/>
          <p:cNvSpPr/>
          <p:nvPr/>
        </p:nvSpPr>
        <p:spPr>
          <a:xfrm>
            <a:off x="513271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132710" y="4855464"/>
            <a:ext cx="1926275" cy="128016"/>
          </a:xfrm>
          <a:prstGeom prst="rect">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699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Motion</a:t>
            </a:r>
          </a:p>
          <a:p>
            <a:pPr algn="ctr">
              <a:lnSpc>
                <a:spcPct val="125000"/>
              </a:lnSpc>
            </a:pPr>
            <a:r>
              <a:rPr sz="1500" b="0">
                <a:solidFill>
                  <a:srgbClr val="57628C"/>
                </a:solidFill>
                <a:latin typeface="Nunito"/>
              </a:rPr>
              <a:t>Tilt, shake,
drop</a:t>
            </a:r>
          </a:p>
        </p:txBody>
      </p:sp>
      <p:sp>
        <p:nvSpPr>
          <p:cNvPr id="13" name="Rounded Rectangle 12"/>
          <p:cNvSpPr/>
          <p:nvPr/>
        </p:nvSpPr>
        <p:spPr>
          <a:xfrm>
            <a:off x="7287585"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287585"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
        <p:nvSpPr>
          <p:cNvPr id="15" name="Rounded Rectangle 14"/>
          <p:cNvSpPr/>
          <p:nvPr/>
        </p:nvSpPr>
        <p:spPr>
          <a:xfrm>
            <a:off x="9442460"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9442460"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IT CAN SENSE FIVE THINGS</a:t>
            </a:r>
          </a:p>
        </p:txBody>
      </p:sp>
      <p:sp>
        <p:nvSpPr>
          <p:cNvPr id="3" name="TextBox 2"/>
          <p:cNvSpPr txBox="1"/>
          <p:nvPr/>
        </p:nvSpPr>
        <p:spPr>
          <a:xfrm>
            <a:off x="822960" y="1143000"/>
            <a:ext cx="10545775" cy="731520"/>
          </a:xfrm>
          <a:prstGeom prst="rect">
            <a:avLst/>
          </a:prstGeom>
          <a:noFill/>
        </p:spPr>
        <p:txBody>
          <a:bodyPr wrap="square" anchor="t" lIns="0" rIns="0" tIns="0" bIns="0">
            <a:spAutoFit/>
          </a:bodyPr>
          <a:lstStyle/>
          <a:p>
            <a:pPr algn="l">
              <a:lnSpc>
                <a:spcPct val="104000"/>
              </a:lnSpc>
            </a:pPr>
            <a:r>
              <a:rPr sz="4000" b="1">
                <a:solidFill>
                  <a:srgbClr val="E5E8F4"/>
                </a:solidFill>
                <a:latin typeface="Poppins"/>
              </a:rPr>
              <a:t>4 of 5</a:t>
            </a:r>
          </a:p>
        </p:txBody>
      </p:sp>
      <p:sp>
        <p:nvSpPr>
          <p:cNvPr id="4" name="Rounded Rectangle 3"/>
          <p:cNvSpPr/>
          <p:nvPr/>
        </p:nvSpPr>
        <p:spPr>
          <a:xfrm>
            <a:off x="82296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4855464"/>
            <a:ext cx="1926275"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24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Light</a:t>
            </a:r>
          </a:p>
          <a:p>
            <a:pPr algn="ctr">
              <a:lnSpc>
                <a:spcPct val="125000"/>
              </a:lnSpc>
            </a:pPr>
            <a:r>
              <a:rPr sz="1500" b="0">
                <a:solidFill>
                  <a:srgbClr val="57628C"/>
                </a:solidFill>
                <a:latin typeface="Nunito"/>
              </a:rPr>
              <a:t>How bright
the room is</a:t>
            </a:r>
          </a:p>
        </p:txBody>
      </p:sp>
      <p:sp>
        <p:nvSpPr>
          <p:cNvPr id="7" name="Rounded Rectangle 6"/>
          <p:cNvSpPr/>
          <p:nvPr/>
        </p:nvSpPr>
        <p:spPr>
          <a:xfrm>
            <a:off x="2977835"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2977835" y="4855464"/>
            <a:ext cx="1926275" cy="128016"/>
          </a:xfrm>
          <a:prstGeom prst="rect">
            <a:avLst/>
          </a:prstGeom>
          <a:solidFill>
            <a:srgbClr val="12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2123"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Sound</a:t>
            </a:r>
          </a:p>
          <a:p>
            <a:pPr algn="ctr">
              <a:lnSpc>
                <a:spcPct val="125000"/>
              </a:lnSpc>
            </a:pPr>
            <a:r>
              <a:rPr sz="1500" b="0">
                <a:solidFill>
                  <a:srgbClr val="57628C"/>
                </a:solidFill>
                <a:latin typeface="Nunito"/>
              </a:rPr>
              <a:t>It hears
you clap</a:t>
            </a:r>
          </a:p>
        </p:txBody>
      </p:sp>
      <p:sp>
        <p:nvSpPr>
          <p:cNvPr id="10" name="Rounded Rectangle 9"/>
          <p:cNvSpPr/>
          <p:nvPr/>
        </p:nvSpPr>
        <p:spPr>
          <a:xfrm>
            <a:off x="513271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132710" y="4855464"/>
            <a:ext cx="1926275" cy="128016"/>
          </a:xfrm>
          <a:prstGeom prst="rect">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699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Motion</a:t>
            </a:r>
          </a:p>
          <a:p>
            <a:pPr algn="ctr">
              <a:lnSpc>
                <a:spcPct val="125000"/>
              </a:lnSpc>
            </a:pPr>
            <a:r>
              <a:rPr sz="1500" b="0">
                <a:solidFill>
                  <a:srgbClr val="57628C"/>
                </a:solidFill>
                <a:latin typeface="Nunito"/>
              </a:rPr>
              <a:t>Tilt, shake,
drop</a:t>
            </a:r>
          </a:p>
        </p:txBody>
      </p:sp>
      <p:sp>
        <p:nvSpPr>
          <p:cNvPr id="13" name="Rounded Rectangle 12"/>
          <p:cNvSpPr/>
          <p:nvPr/>
        </p:nvSpPr>
        <p:spPr>
          <a:xfrm>
            <a:off x="7287585"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287585" y="4855464"/>
            <a:ext cx="1926275" cy="128016"/>
          </a:xfrm>
          <a:prstGeom prst="rect">
            <a:avLst/>
          </a:prstGeom>
          <a:solidFill>
            <a:srgbClr val="F25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1873"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Touch</a:t>
            </a:r>
          </a:p>
          <a:p>
            <a:pPr algn="ctr">
              <a:lnSpc>
                <a:spcPct val="125000"/>
              </a:lnSpc>
            </a:pPr>
            <a:r>
              <a:rPr sz="1500" b="0">
                <a:solidFill>
                  <a:srgbClr val="57628C"/>
                </a:solidFill>
                <a:latin typeface="Nunito"/>
              </a:rPr>
              <a:t>The gold logo
on top</a:t>
            </a:r>
          </a:p>
        </p:txBody>
      </p:sp>
      <p:sp>
        <p:nvSpPr>
          <p:cNvPr id="16" name="Rounded Rectangle 15"/>
          <p:cNvSpPr/>
          <p:nvPr/>
        </p:nvSpPr>
        <p:spPr>
          <a:xfrm>
            <a:off x="9442460" y="2331720"/>
            <a:ext cx="1926275" cy="265176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442460" y="3429000"/>
            <a:ext cx="1926275" cy="731520"/>
          </a:xfrm>
          <a:prstGeom prst="rect">
            <a:avLst/>
          </a:prstGeom>
          <a:noFill/>
        </p:spPr>
        <p:txBody>
          <a:bodyPr wrap="square" anchor="t" lIns="0" rIns="0" tIns="0" bIns="0">
            <a:spAutoFit/>
          </a:bodyPr>
          <a:lstStyle/>
          <a:p>
            <a:pPr algn="ctr"/>
            <a:r>
              <a:rPr sz="4000" b="1">
                <a:solidFill>
                  <a:srgbClr val="E5E8F4"/>
                </a:solidFill>
                <a:latin typeface="Poppins"/>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IT CAN SENSE FIVE THINGS</a:t>
            </a:r>
          </a:p>
        </p:txBody>
      </p:sp>
      <p:sp>
        <p:nvSpPr>
          <p:cNvPr id="3" name="TextBox 2"/>
          <p:cNvSpPr txBox="1"/>
          <p:nvPr/>
        </p:nvSpPr>
        <p:spPr>
          <a:xfrm>
            <a:off x="822960" y="1143000"/>
            <a:ext cx="10545775" cy="731520"/>
          </a:xfrm>
          <a:prstGeom prst="rect">
            <a:avLst/>
          </a:prstGeom>
          <a:noFill/>
        </p:spPr>
        <p:txBody>
          <a:bodyPr wrap="square" anchor="t" lIns="0" rIns="0" tIns="0" bIns="0">
            <a:spAutoFit/>
          </a:bodyPr>
          <a:lstStyle/>
          <a:p>
            <a:pPr algn="l">
              <a:lnSpc>
                <a:spcPct val="104000"/>
              </a:lnSpc>
            </a:pPr>
            <a:r>
              <a:rPr sz="4000" b="1">
                <a:solidFill>
                  <a:srgbClr val="0D8783"/>
                </a:solidFill>
                <a:latin typeface="Poppins"/>
              </a:rPr>
              <a:t>5 of 5</a:t>
            </a:r>
          </a:p>
        </p:txBody>
      </p:sp>
      <p:sp>
        <p:nvSpPr>
          <p:cNvPr id="4" name="Rounded Rectangle 3"/>
          <p:cNvSpPr/>
          <p:nvPr/>
        </p:nvSpPr>
        <p:spPr>
          <a:xfrm>
            <a:off x="82296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4855464"/>
            <a:ext cx="1926275"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724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Light</a:t>
            </a:r>
          </a:p>
          <a:p>
            <a:pPr algn="ctr">
              <a:lnSpc>
                <a:spcPct val="125000"/>
              </a:lnSpc>
            </a:pPr>
            <a:r>
              <a:rPr sz="1500" b="0">
                <a:solidFill>
                  <a:srgbClr val="57628C"/>
                </a:solidFill>
                <a:latin typeface="Nunito"/>
              </a:rPr>
              <a:t>How bright
the room is</a:t>
            </a:r>
          </a:p>
        </p:txBody>
      </p:sp>
      <p:sp>
        <p:nvSpPr>
          <p:cNvPr id="7" name="Rounded Rectangle 6"/>
          <p:cNvSpPr/>
          <p:nvPr/>
        </p:nvSpPr>
        <p:spPr>
          <a:xfrm>
            <a:off x="2977835"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2977835" y="4855464"/>
            <a:ext cx="1926275" cy="128016"/>
          </a:xfrm>
          <a:prstGeom prst="rect">
            <a:avLst/>
          </a:prstGeom>
          <a:solidFill>
            <a:srgbClr val="12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82123"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Sound</a:t>
            </a:r>
          </a:p>
          <a:p>
            <a:pPr algn="ctr">
              <a:lnSpc>
                <a:spcPct val="125000"/>
              </a:lnSpc>
            </a:pPr>
            <a:r>
              <a:rPr sz="1500" b="0">
                <a:solidFill>
                  <a:srgbClr val="57628C"/>
                </a:solidFill>
                <a:latin typeface="Nunito"/>
              </a:rPr>
              <a:t>It hears
you clap</a:t>
            </a:r>
          </a:p>
        </p:txBody>
      </p:sp>
      <p:sp>
        <p:nvSpPr>
          <p:cNvPr id="10" name="Rounded Rectangle 9"/>
          <p:cNvSpPr/>
          <p:nvPr/>
        </p:nvSpPr>
        <p:spPr>
          <a:xfrm>
            <a:off x="513271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132710" y="4855464"/>
            <a:ext cx="1926275" cy="128016"/>
          </a:xfrm>
          <a:prstGeom prst="rect">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3699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Motion</a:t>
            </a:r>
          </a:p>
          <a:p>
            <a:pPr algn="ctr">
              <a:lnSpc>
                <a:spcPct val="125000"/>
              </a:lnSpc>
            </a:pPr>
            <a:r>
              <a:rPr sz="1500" b="0">
                <a:solidFill>
                  <a:srgbClr val="57628C"/>
                </a:solidFill>
                <a:latin typeface="Nunito"/>
              </a:rPr>
              <a:t>Tilt, shake,
drop</a:t>
            </a:r>
          </a:p>
        </p:txBody>
      </p:sp>
      <p:sp>
        <p:nvSpPr>
          <p:cNvPr id="13" name="Rounded Rectangle 12"/>
          <p:cNvSpPr/>
          <p:nvPr/>
        </p:nvSpPr>
        <p:spPr>
          <a:xfrm>
            <a:off x="7287585"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7287585" y="4855464"/>
            <a:ext cx="1926275" cy="128016"/>
          </a:xfrm>
          <a:prstGeom prst="rect">
            <a:avLst/>
          </a:prstGeom>
          <a:solidFill>
            <a:srgbClr val="F25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91873"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Touch</a:t>
            </a:r>
          </a:p>
          <a:p>
            <a:pPr algn="ctr">
              <a:lnSpc>
                <a:spcPct val="125000"/>
              </a:lnSpc>
            </a:pPr>
            <a:r>
              <a:rPr sz="1500" b="0">
                <a:solidFill>
                  <a:srgbClr val="57628C"/>
                </a:solidFill>
                <a:latin typeface="Nunito"/>
              </a:rPr>
              <a:t>The gold logo
on top</a:t>
            </a:r>
          </a:p>
        </p:txBody>
      </p:sp>
      <p:sp>
        <p:nvSpPr>
          <p:cNvPr id="16" name="Rounded Rectangle 15"/>
          <p:cNvSpPr/>
          <p:nvPr/>
        </p:nvSpPr>
        <p:spPr>
          <a:xfrm>
            <a:off x="9442460" y="2331720"/>
            <a:ext cx="1926275" cy="2651760"/>
          </a:xfrm>
          <a:prstGeom prst="roundRect">
            <a:avLst>
              <a:gd name="adj" fmla="val 10000"/>
            </a:avLst>
          </a:prstGeom>
          <a:solidFill>
            <a:srgbClr val="F5F6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9442460" y="4855464"/>
            <a:ext cx="1926275" cy="128016"/>
          </a:xfrm>
          <a:prstGeom prst="rect">
            <a:avLst/>
          </a:prstGeom>
          <a:solidFill>
            <a:srgbClr val="3B6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46748" y="2624327"/>
            <a:ext cx="1917699" cy="2066543"/>
          </a:xfrm>
          <a:prstGeom prst="rect">
            <a:avLst/>
          </a:prstGeom>
          <a:noFill/>
        </p:spPr>
        <p:txBody>
          <a:bodyPr wrap="square" anchor="t" lIns="0" rIns="0" tIns="0" bIns="0">
            <a:spAutoFit/>
          </a:bodyPr>
          <a:lstStyle/>
          <a:p>
            <a:pPr algn="ctr">
              <a:spcAft>
                <a:spcPts val="800"/>
              </a:spcAft>
            </a:pPr>
            <a:r>
              <a:rPr sz="4400" b="0">
                <a:solidFill>
                  <a:srgbClr val="57628C"/>
                </a:solidFill>
                <a:latin typeface="Nunito"/>
              </a:rPr>
              <a:t>🌡️</a:t>
            </a:r>
          </a:p>
          <a:p>
            <a:pPr algn="ctr">
              <a:spcAft>
                <a:spcPts val="400"/>
              </a:spcAft>
            </a:pPr>
            <a:r>
              <a:rPr sz="2000" b="1">
                <a:solidFill>
                  <a:srgbClr val="1C2757"/>
                </a:solidFill>
                <a:latin typeface="Poppins"/>
              </a:rPr>
              <a:t>Temperature</a:t>
            </a:r>
          </a:p>
          <a:p>
            <a:pPr algn="ctr">
              <a:lnSpc>
                <a:spcPct val="125000"/>
              </a:lnSpc>
            </a:pPr>
            <a:r>
              <a:rPr sz="1500" b="0">
                <a:solidFill>
                  <a:srgbClr val="57628C"/>
                </a:solidFill>
                <a:latin typeface="Nunito"/>
              </a:rPr>
              <a:t>How warm
it 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757"/>
        </a:solidFill>
        <a:effectLst/>
      </p:bgPr>
    </p:bg>
    <p:spTree>
      <p:nvGrpSpPr>
        <p:cNvPr id="1" name=""/>
        <p:cNvGrpSpPr/>
        <p:nvPr/>
      </p:nvGrpSpPr>
      <p:grpSpPr/>
      <p:sp>
        <p:nvSpPr>
          <p:cNvPr id="2" name="TextBox 1"/>
          <p:cNvSpPr txBox="1"/>
          <p:nvPr/>
        </p:nvSpPr>
        <p:spPr>
          <a:xfrm>
            <a:off x="822960" y="1280160"/>
            <a:ext cx="10545775" cy="3657600"/>
          </a:xfrm>
          <a:prstGeom prst="rect">
            <a:avLst/>
          </a:prstGeom>
          <a:noFill/>
        </p:spPr>
        <p:txBody>
          <a:bodyPr wrap="square" anchor="t" lIns="0" rIns="0" tIns="0" bIns="0">
            <a:spAutoFit/>
          </a:bodyPr>
          <a:lstStyle/>
          <a:p>
            <a:pPr algn="ctr">
              <a:lnSpc>
                <a:spcPct val="104000"/>
              </a:lnSpc>
            </a:pPr>
            <a:r>
              <a:rPr sz="5200" b="1">
                <a:solidFill>
                  <a:srgbClr val="FFFFFF"/>
                </a:solidFill>
                <a:latin typeface="Poppins"/>
              </a:rPr>
              <a:t>But it does
absolutely nothing
until somebody tells it
what to do.</a:t>
            </a:r>
          </a:p>
        </p:txBody>
      </p:sp>
      <p:sp>
        <p:nvSpPr>
          <p:cNvPr id="3" name="TextBox 2"/>
          <p:cNvSpPr txBox="1"/>
          <p:nvPr/>
        </p:nvSpPr>
        <p:spPr>
          <a:xfrm>
            <a:off x="822960" y="5120640"/>
            <a:ext cx="10545775" cy="822960"/>
          </a:xfrm>
          <a:prstGeom prst="rect">
            <a:avLst/>
          </a:prstGeom>
          <a:noFill/>
        </p:spPr>
        <p:txBody>
          <a:bodyPr wrap="square" anchor="t" lIns="0" rIns="0" tIns="0" bIns="0">
            <a:spAutoFit/>
          </a:bodyPr>
          <a:lstStyle/>
          <a:p>
            <a:pPr algn="ctr">
              <a:lnSpc>
                <a:spcPct val="115000"/>
              </a:lnSpc>
            </a:pPr>
            <a:r>
              <a:rPr sz="3000" b="1">
                <a:solidFill>
                  <a:srgbClr val="F59A23"/>
                </a:solidFill>
                <a:latin typeface="Poppins"/>
              </a:rPr>
              <a:t>That somebody is about to be you.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914400"/>
            <a:ext cx="10545775" cy="320040"/>
          </a:xfrm>
          <a:prstGeom prst="rect">
            <a:avLst/>
          </a:prstGeom>
          <a:noFill/>
        </p:spPr>
        <p:txBody>
          <a:bodyPr wrap="square" anchor="t" lIns="0" rIns="0" tIns="0" bIns="0">
            <a:spAutoFit/>
          </a:bodyPr>
          <a:lstStyle/>
          <a:p>
            <a:pPr algn="ctr"/>
            <a:r>
              <a:rPr sz="1400" b="1">
                <a:solidFill>
                  <a:srgbClr val="0D8783"/>
                </a:solidFill>
                <a:latin typeface="Poppins"/>
              </a:rPr>
              <a:t>EVERYBODY, RIGHT NOW</a:t>
            </a:r>
          </a:p>
        </p:txBody>
      </p:sp>
      <p:sp>
        <p:nvSpPr>
          <p:cNvPr id="3" name="Rounded Rectangle 2"/>
          <p:cNvSpPr/>
          <p:nvPr/>
        </p:nvSpPr>
        <p:spPr>
          <a:xfrm>
            <a:off x="2346807" y="1463040"/>
            <a:ext cx="7498079" cy="1188720"/>
          </a:xfrm>
          <a:prstGeom prst="roundRect">
            <a:avLst>
              <a:gd name="adj" fmla="val 14000"/>
            </a:avLst>
          </a:prstGeom>
          <a:solidFill>
            <a:srgbClr val="E2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4000" b="1">
                <a:solidFill>
                  <a:srgbClr val="1C2757"/>
                </a:solidFill>
                <a:latin typeface="Poppins"/>
              </a:rPr>
              <a:t>makecode.microbit.org</a:t>
            </a:r>
          </a:p>
        </p:txBody>
      </p:sp>
      <p:sp>
        <p:nvSpPr>
          <p:cNvPr id="4" name="Rounded Rectangle 3"/>
          <p:cNvSpPr/>
          <p:nvPr/>
        </p:nvSpPr>
        <p:spPr>
          <a:xfrm>
            <a:off x="3200400" y="3063240"/>
            <a:ext cx="566928" cy="566928"/>
          </a:xfrm>
          <a:prstGeom prst="roundRect">
            <a:avLst>
              <a:gd name="adj" fmla="val 50000"/>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Poppins"/>
              </a:rPr>
              <a:t>1</a:t>
            </a:r>
          </a:p>
        </p:txBody>
      </p:sp>
      <p:sp>
        <p:nvSpPr>
          <p:cNvPr id="5" name="TextBox 4"/>
          <p:cNvSpPr txBox="1"/>
          <p:nvPr/>
        </p:nvSpPr>
        <p:spPr>
          <a:xfrm>
            <a:off x="3977639" y="3163824"/>
            <a:ext cx="5486400" cy="548640"/>
          </a:xfrm>
          <a:prstGeom prst="rect">
            <a:avLst/>
          </a:prstGeom>
          <a:noFill/>
        </p:spPr>
        <p:txBody>
          <a:bodyPr wrap="square" anchor="t" lIns="0" rIns="0" tIns="0" bIns="0">
            <a:spAutoFit/>
          </a:bodyPr>
          <a:lstStyle/>
          <a:p>
            <a:pPr algn="l"/>
            <a:r>
              <a:rPr sz="2300" b="0">
                <a:solidFill>
                  <a:srgbClr val="57628C"/>
                </a:solidFill>
                <a:latin typeface="Nunito"/>
              </a:rPr>
              <a:t>Open that link — no login, no download.</a:t>
            </a:r>
          </a:p>
        </p:txBody>
      </p:sp>
      <p:sp>
        <p:nvSpPr>
          <p:cNvPr id="6" name="Rounded Rectangle 5"/>
          <p:cNvSpPr/>
          <p:nvPr/>
        </p:nvSpPr>
        <p:spPr>
          <a:xfrm>
            <a:off x="3200400" y="3840480"/>
            <a:ext cx="566928" cy="566928"/>
          </a:xfrm>
          <a:prstGeom prst="roundRect">
            <a:avLst>
              <a:gd name="adj" fmla="val 50000"/>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Poppins"/>
              </a:rPr>
              <a:t>2</a:t>
            </a:r>
          </a:p>
        </p:txBody>
      </p:sp>
      <p:sp>
        <p:nvSpPr>
          <p:cNvPr id="7" name="TextBox 6"/>
          <p:cNvSpPr txBox="1"/>
          <p:nvPr/>
        </p:nvSpPr>
        <p:spPr>
          <a:xfrm>
            <a:off x="3977639" y="3941064"/>
            <a:ext cx="5486400" cy="548640"/>
          </a:xfrm>
          <a:prstGeom prst="rect">
            <a:avLst/>
          </a:prstGeom>
          <a:noFill/>
        </p:spPr>
        <p:txBody>
          <a:bodyPr wrap="square" anchor="t" lIns="0" rIns="0" tIns="0" bIns="0">
            <a:spAutoFit/>
          </a:bodyPr>
          <a:lstStyle/>
          <a:p>
            <a:pPr algn="l"/>
            <a:r>
              <a:rPr sz="2300" b="0">
                <a:solidFill>
                  <a:srgbClr val="57628C"/>
                </a:solidFill>
                <a:latin typeface="Nunito"/>
              </a:rPr>
              <a:t>Click New Project.</a:t>
            </a:r>
          </a:p>
        </p:txBody>
      </p:sp>
      <p:sp>
        <p:nvSpPr>
          <p:cNvPr id="8" name="Rounded Rectangle 7"/>
          <p:cNvSpPr/>
          <p:nvPr/>
        </p:nvSpPr>
        <p:spPr>
          <a:xfrm>
            <a:off x="3200400" y="4617720"/>
            <a:ext cx="566928" cy="566928"/>
          </a:xfrm>
          <a:prstGeom prst="roundRect">
            <a:avLst>
              <a:gd name="adj" fmla="val 50000"/>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FFFFFF"/>
                </a:solidFill>
                <a:latin typeface="Poppins"/>
              </a:rPr>
              <a:t>3</a:t>
            </a:r>
          </a:p>
        </p:txBody>
      </p:sp>
      <p:sp>
        <p:nvSpPr>
          <p:cNvPr id="9" name="TextBox 8"/>
          <p:cNvSpPr txBox="1"/>
          <p:nvPr/>
        </p:nvSpPr>
        <p:spPr>
          <a:xfrm>
            <a:off x="3977639" y="4718304"/>
            <a:ext cx="5486400" cy="548640"/>
          </a:xfrm>
          <a:prstGeom prst="rect">
            <a:avLst/>
          </a:prstGeom>
          <a:noFill/>
        </p:spPr>
        <p:txBody>
          <a:bodyPr wrap="square" anchor="t" lIns="0" rIns="0" tIns="0" bIns="0">
            <a:spAutoFit/>
          </a:bodyPr>
          <a:lstStyle/>
          <a:p>
            <a:pPr algn="l"/>
            <a:r>
              <a:rPr sz="2300" b="0">
                <a:solidFill>
                  <a:srgbClr val="57628C"/>
                </a:solidFill>
                <a:latin typeface="Nunito"/>
              </a:rPr>
              <a:t>Call it “My Bear” and hit Create.</a:t>
            </a:r>
          </a:p>
        </p:txBody>
      </p:sp>
      <p:sp>
        <p:nvSpPr>
          <p:cNvPr id="10" name="TextBox 9"/>
          <p:cNvSpPr txBox="1"/>
          <p:nvPr/>
        </p:nvSpPr>
        <p:spPr>
          <a:xfrm>
            <a:off x="822960" y="5623560"/>
            <a:ext cx="10545775" cy="822960"/>
          </a:xfrm>
          <a:prstGeom prst="rect">
            <a:avLst/>
          </a:prstGeom>
          <a:noFill/>
        </p:spPr>
        <p:txBody>
          <a:bodyPr wrap="square" anchor="t" lIns="0" rIns="0" tIns="0" bIns="0">
            <a:spAutoFit/>
          </a:bodyPr>
          <a:lstStyle/>
          <a:p>
            <a:pPr algn="ctr">
              <a:lnSpc>
                <a:spcPct val="115000"/>
              </a:lnSpc>
            </a:pPr>
            <a:r>
              <a:rPr sz="2400" b="1">
                <a:solidFill>
                  <a:srgbClr val="0D8783"/>
                </a:solidFill>
                <a:latin typeface="Poppins"/>
              </a:rPr>
              <a:t>Type 1 in the chat when you can see the yellow “on start” block.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YOUR BEAR  ·  FOUR BLOCKS, IN THIS ORDER</a:t>
            </a:r>
          </a:p>
        </p:txBody>
      </p:sp>
      <p:sp>
        <p:nvSpPr>
          <p:cNvPr id="3" name="TextBox 2"/>
          <p:cNvSpPr txBox="1"/>
          <p:nvPr/>
        </p:nvSpPr>
        <p:spPr>
          <a:xfrm>
            <a:off x="822960" y="1051560"/>
            <a:ext cx="10545775" cy="731520"/>
          </a:xfrm>
          <a:prstGeom prst="rect">
            <a:avLst/>
          </a:prstGeom>
          <a:noFill/>
        </p:spPr>
        <p:txBody>
          <a:bodyPr wrap="square" anchor="t" lIns="0" rIns="0" tIns="0" bIns="0">
            <a:spAutoFit/>
          </a:bodyPr>
          <a:lstStyle/>
          <a:p>
            <a:pPr algn="l">
              <a:lnSpc>
                <a:spcPct val="104000"/>
              </a:lnSpc>
            </a:pPr>
            <a:r>
              <a:rPr sz="4000" b="1">
                <a:solidFill>
                  <a:srgbClr val="1C2757"/>
                </a:solidFill>
                <a:latin typeface="Poppins"/>
              </a:rPr>
              <a:t>Block 1 of 4</a:t>
            </a:r>
          </a:p>
        </p:txBody>
      </p:sp>
      <p:sp>
        <p:nvSpPr>
          <p:cNvPr id="4" name="Rounded Rectangle 3"/>
          <p:cNvSpPr/>
          <p:nvPr/>
        </p:nvSpPr>
        <p:spPr>
          <a:xfrm>
            <a:off x="822960" y="2240280"/>
            <a:ext cx="4952847" cy="1417320"/>
          </a:xfrm>
          <a:prstGeom prst="roundRect">
            <a:avLst>
              <a:gd name="adj" fmla="val 10000"/>
            </a:avLst>
          </a:prstGeom>
          <a:solidFill>
            <a:srgbClr val="1E90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start</a:t>
            </a:r>
          </a:p>
        </p:txBody>
      </p:sp>
      <p:sp>
        <p:nvSpPr>
          <p:cNvPr id="5" name="Rounded Rectangle 4"/>
          <p:cNvSpPr/>
          <p:nvPr/>
        </p:nvSpPr>
        <p:spPr>
          <a:xfrm>
            <a:off x="1133856" y="2807208"/>
            <a:ext cx="4331055" cy="658368"/>
          </a:xfrm>
          <a:prstGeom prst="roundRect">
            <a:avLst>
              <a:gd name="adj" fmla="val 12000"/>
            </a:avLst>
          </a:prstGeom>
          <a:solidFill>
            <a:srgbClr val="137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icon  🙂</a:t>
            </a:r>
          </a:p>
        </p:txBody>
      </p:sp>
      <p:sp>
        <p:nvSpPr>
          <p:cNvPr id="6" name="TextBox 5"/>
          <p:cNvSpPr txBox="1"/>
          <p:nvPr/>
        </p:nvSpPr>
        <p:spPr>
          <a:xfrm>
            <a:off x="868680"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face appears the moment it runs.</a:t>
            </a:r>
          </a:p>
        </p:txBody>
      </p:sp>
      <p:sp>
        <p:nvSpPr>
          <p:cNvPr id="7" name="Rounded Rectangle 6"/>
          <p:cNvSpPr/>
          <p:nvPr/>
        </p:nvSpPr>
        <p:spPr>
          <a:xfrm>
            <a:off x="6415887" y="2240280"/>
            <a:ext cx="4952847" cy="141732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22960" y="4389120"/>
            <a:ext cx="4952847" cy="141732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6415887" y="4389120"/>
            <a:ext cx="4952847" cy="141732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YOUR BEAR  ·  FOUR BLOCKS, IN THIS ORDER</a:t>
            </a:r>
          </a:p>
        </p:txBody>
      </p:sp>
      <p:sp>
        <p:nvSpPr>
          <p:cNvPr id="3" name="TextBox 2"/>
          <p:cNvSpPr txBox="1"/>
          <p:nvPr/>
        </p:nvSpPr>
        <p:spPr>
          <a:xfrm>
            <a:off x="822960" y="1051560"/>
            <a:ext cx="10545775" cy="731520"/>
          </a:xfrm>
          <a:prstGeom prst="rect">
            <a:avLst/>
          </a:prstGeom>
          <a:noFill/>
        </p:spPr>
        <p:txBody>
          <a:bodyPr wrap="square" anchor="t" lIns="0" rIns="0" tIns="0" bIns="0">
            <a:spAutoFit/>
          </a:bodyPr>
          <a:lstStyle/>
          <a:p>
            <a:pPr algn="l">
              <a:lnSpc>
                <a:spcPct val="104000"/>
              </a:lnSpc>
            </a:pPr>
            <a:r>
              <a:rPr sz="4000" b="1">
                <a:solidFill>
                  <a:srgbClr val="1C2757"/>
                </a:solidFill>
                <a:latin typeface="Poppins"/>
              </a:rPr>
              <a:t>Block 2 of 4</a:t>
            </a:r>
          </a:p>
        </p:txBody>
      </p:sp>
      <p:sp>
        <p:nvSpPr>
          <p:cNvPr id="4" name="Rounded Rectangle 3"/>
          <p:cNvSpPr/>
          <p:nvPr/>
        </p:nvSpPr>
        <p:spPr>
          <a:xfrm>
            <a:off x="822960" y="2240280"/>
            <a:ext cx="4952847" cy="1417320"/>
          </a:xfrm>
          <a:prstGeom prst="roundRect">
            <a:avLst>
              <a:gd name="adj" fmla="val 10000"/>
            </a:avLst>
          </a:prstGeom>
          <a:solidFill>
            <a:srgbClr val="1E90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start</a:t>
            </a:r>
          </a:p>
        </p:txBody>
      </p:sp>
      <p:sp>
        <p:nvSpPr>
          <p:cNvPr id="5" name="Rounded Rectangle 4"/>
          <p:cNvSpPr/>
          <p:nvPr/>
        </p:nvSpPr>
        <p:spPr>
          <a:xfrm>
            <a:off x="1133856" y="2807208"/>
            <a:ext cx="4331055" cy="658368"/>
          </a:xfrm>
          <a:prstGeom prst="roundRect">
            <a:avLst>
              <a:gd name="adj" fmla="val 12000"/>
            </a:avLst>
          </a:prstGeom>
          <a:solidFill>
            <a:srgbClr val="137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icon  🙂</a:t>
            </a:r>
          </a:p>
        </p:txBody>
      </p:sp>
      <p:sp>
        <p:nvSpPr>
          <p:cNvPr id="6" name="TextBox 5"/>
          <p:cNvSpPr txBox="1"/>
          <p:nvPr/>
        </p:nvSpPr>
        <p:spPr>
          <a:xfrm>
            <a:off x="868680"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face appears the moment it runs.</a:t>
            </a:r>
          </a:p>
        </p:txBody>
      </p:sp>
      <p:sp>
        <p:nvSpPr>
          <p:cNvPr id="7" name="Rounded Rectangle 6"/>
          <p:cNvSpPr/>
          <p:nvPr/>
        </p:nvSpPr>
        <p:spPr>
          <a:xfrm>
            <a:off x="6415887" y="2240280"/>
            <a:ext cx="4952847"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button A pressed</a:t>
            </a:r>
          </a:p>
        </p:txBody>
      </p:sp>
      <p:sp>
        <p:nvSpPr>
          <p:cNvPr id="8" name="Rounded Rectangle 7"/>
          <p:cNvSpPr/>
          <p:nvPr/>
        </p:nvSpPr>
        <p:spPr>
          <a:xfrm>
            <a:off x="6726783" y="2807208"/>
            <a:ext cx="4331055" cy="658368"/>
          </a:xfrm>
          <a:prstGeom prst="roundRect">
            <a:avLst>
              <a:gd name="adj" fmla="val 12000"/>
            </a:avLst>
          </a:prstGeom>
          <a:solidFill>
            <a:srgbClr val="8A0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string  “wake up”</a:t>
            </a:r>
          </a:p>
        </p:txBody>
      </p:sp>
      <p:sp>
        <p:nvSpPr>
          <p:cNvPr id="9" name="TextBox 8"/>
          <p:cNvSpPr txBox="1"/>
          <p:nvPr/>
        </p:nvSpPr>
        <p:spPr>
          <a:xfrm>
            <a:off x="6461607"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words scroll across.</a:t>
            </a:r>
          </a:p>
        </p:txBody>
      </p:sp>
      <p:sp>
        <p:nvSpPr>
          <p:cNvPr id="10" name="Rounded Rectangle 9"/>
          <p:cNvSpPr/>
          <p:nvPr/>
        </p:nvSpPr>
        <p:spPr>
          <a:xfrm>
            <a:off x="822960" y="4389120"/>
            <a:ext cx="4952847" cy="141732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415887" y="4389120"/>
            <a:ext cx="4952847" cy="141732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YOUR BEAR  ·  FOUR BLOCKS, IN THIS ORDER</a:t>
            </a:r>
          </a:p>
        </p:txBody>
      </p:sp>
      <p:sp>
        <p:nvSpPr>
          <p:cNvPr id="3" name="TextBox 2"/>
          <p:cNvSpPr txBox="1"/>
          <p:nvPr/>
        </p:nvSpPr>
        <p:spPr>
          <a:xfrm>
            <a:off x="822960" y="1051560"/>
            <a:ext cx="10545775" cy="731520"/>
          </a:xfrm>
          <a:prstGeom prst="rect">
            <a:avLst/>
          </a:prstGeom>
          <a:noFill/>
        </p:spPr>
        <p:txBody>
          <a:bodyPr wrap="square" anchor="t" lIns="0" rIns="0" tIns="0" bIns="0">
            <a:spAutoFit/>
          </a:bodyPr>
          <a:lstStyle/>
          <a:p>
            <a:pPr algn="l">
              <a:lnSpc>
                <a:spcPct val="104000"/>
              </a:lnSpc>
            </a:pPr>
            <a:r>
              <a:rPr sz="4000" b="1">
                <a:solidFill>
                  <a:srgbClr val="1C2757"/>
                </a:solidFill>
                <a:latin typeface="Poppins"/>
              </a:rPr>
              <a:t>Block 3 of 4</a:t>
            </a:r>
          </a:p>
        </p:txBody>
      </p:sp>
      <p:sp>
        <p:nvSpPr>
          <p:cNvPr id="4" name="Rounded Rectangle 3"/>
          <p:cNvSpPr/>
          <p:nvPr/>
        </p:nvSpPr>
        <p:spPr>
          <a:xfrm>
            <a:off x="822960" y="2240280"/>
            <a:ext cx="4952847" cy="1417320"/>
          </a:xfrm>
          <a:prstGeom prst="roundRect">
            <a:avLst>
              <a:gd name="adj" fmla="val 10000"/>
            </a:avLst>
          </a:prstGeom>
          <a:solidFill>
            <a:srgbClr val="1E90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start</a:t>
            </a:r>
          </a:p>
        </p:txBody>
      </p:sp>
      <p:sp>
        <p:nvSpPr>
          <p:cNvPr id="5" name="Rounded Rectangle 4"/>
          <p:cNvSpPr/>
          <p:nvPr/>
        </p:nvSpPr>
        <p:spPr>
          <a:xfrm>
            <a:off x="1133856" y="2807208"/>
            <a:ext cx="4331055" cy="658368"/>
          </a:xfrm>
          <a:prstGeom prst="roundRect">
            <a:avLst>
              <a:gd name="adj" fmla="val 12000"/>
            </a:avLst>
          </a:prstGeom>
          <a:solidFill>
            <a:srgbClr val="137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icon  🙂</a:t>
            </a:r>
          </a:p>
        </p:txBody>
      </p:sp>
      <p:sp>
        <p:nvSpPr>
          <p:cNvPr id="6" name="TextBox 5"/>
          <p:cNvSpPr txBox="1"/>
          <p:nvPr/>
        </p:nvSpPr>
        <p:spPr>
          <a:xfrm>
            <a:off x="868680"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face appears the moment it runs.</a:t>
            </a:r>
          </a:p>
        </p:txBody>
      </p:sp>
      <p:sp>
        <p:nvSpPr>
          <p:cNvPr id="7" name="Rounded Rectangle 6"/>
          <p:cNvSpPr/>
          <p:nvPr/>
        </p:nvSpPr>
        <p:spPr>
          <a:xfrm>
            <a:off x="6415887" y="2240280"/>
            <a:ext cx="4952847"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button A pressed</a:t>
            </a:r>
          </a:p>
        </p:txBody>
      </p:sp>
      <p:sp>
        <p:nvSpPr>
          <p:cNvPr id="8" name="Rounded Rectangle 7"/>
          <p:cNvSpPr/>
          <p:nvPr/>
        </p:nvSpPr>
        <p:spPr>
          <a:xfrm>
            <a:off x="6726783" y="2807208"/>
            <a:ext cx="4331055" cy="658368"/>
          </a:xfrm>
          <a:prstGeom prst="roundRect">
            <a:avLst>
              <a:gd name="adj" fmla="val 12000"/>
            </a:avLst>
          </a:prstGeom>
          <a:solidFill>
            <a:srgbClr val="8A0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string  “wake up”</a:t>
            </a:r>
          </a:p>
        </p:txBody>
      </p:sp>
      <p:sp>
        <p:nvSpPr>
          <p:cNvPr id="9" name="TextBox 8"/>
          <p:cNvSpPr txBox="1"/>
          <p:nvPr/>
        </p:nvSpPr>
        <p:spPr>
          <a:xfrm>
            <a:off x="6461607"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words scroll across.</a:t>
            </a:r>
          </a:p>
        </p:txBody>
      </p:sp>
      <p:sp>
        <p:nvSpPr>
          <p:cNvPr id="10" name="Rounded Rectangle 9"/>
          <p:cNvSpPr/>
          <p:nvPr/>
        </p:nvSpPr>
        <p:spPr>
          <a:xfrm>
            <a:off x="822960" y="4389120"/>
            <a:ext cx="4952847"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shake</a:t>
            </a:r>
          </a:p>
        </p:txBody>
      </p:sp>
      <p:sp>
        <p:nvSpPr>
          <p:cNvPr id="11" name="Rounded Rectangle 10"/>
          <p:cNvSpPr/>
          <p:nvPr/>
        </p:nvSpPr>
        <p:spPr>
          <a:xfrm>
            <a:off x="1133856" y="4956048"/>
            <a:ext cx="4331055" cy="658368"/>
          </a:xfrm>
          <a:prstGeom prst="roundRect">
            <a:avLst>
              <a:gd name="adj" fmla="val 12000"/>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play sound  giggle</a:t>
            </a:r>
          </a:p>
        </p:txBody>
      </p:sp>
      <p:sp>
        <p:nvSpPr>
          <p:cNvPr id="12" name="TextBox 11"/>
          <p:cNvSpPr txBox="1"/>
          <p:nvPr/>
        </p:nvSpPr>
        <p:spPr>
          <a:xfrm>
            <a:off x="868680" y="5870448"/>
            <a:ext cx="4952847" cy="365760"/>
          </a:xfrm>
          <a:prstGeom prst="rect">
            <a:avLst/>
          </a:prstGeom>
          <a:noFill/>
        </p:spPr>
        <p:txBody>
          <a:bodyPr wrap="square" anchor="t" lIns="0" rIns="0" tIns="0" bIns="0">
            <a:spAutoFit/>
          </a:bodyPr>
          <a:lstStyle/>
          <a:p>
            <a:pPr algn="l"/>
            <a:r>
              <a:rPr sz="1600" b="0">
                <a:solidFill>
                  <a:srgbClr val="57628C"/>
                </a:solidFill>
                <a:latin typeface="Nunito"/>
              </a:rPr>
              <a:t>Shake it — it giggles.</a:t>
            </a:r>
          </a:p>
        </p:txBody>
      </p:sp>
      <p:sp>
        <p:nvSpPr>
          <p:cNvPr id="13" name="Rounded Rectangle 12"/>
          <p:cNvSpPr/>
          <p:nvPr/>
        </p:nvSpPr>
        <p:spPr>
          <a:xfrm>
            <a:off x="6415887" y="4389120"/>
            <a:ext cx="4952847" cy="1417320"/>
          </a:xfrm>
          <a:prstGeom prst="roundRect">
            <a:avLst>
              <a:gd name="adj" fmla="val 9000"/>
            </a:avLst>
          </a:prstGeom>
          <a:noFill/>
          <a:ln w="22225">
            <a:solidFill>
              <a:srgbClr val="E5E8F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YOUR BEAR  ·  FOUR BLOCKS, IN THIS ORDER</a:t>
            </a:r>
          </a:p>
        </p:txBody>
      </p:sp>
      <p:sp>
        <p:nvSpPr>
          <p:cNvPr id="3" name="TextBox 2"/>
          <p:cNvSpPr txBox="1"/>
          <p:nvPr/>
        </p:nvSpPr>
        <p:spPr>
          <a:xfrm>
            <a:off x="822960" y="1051560"/>
            <a:ext cx="10545775" cy="731520"/>
          </a:xfrm>
          <a:prstGeom prst="rect">
            <a:avLst/>
          </a:prstGeom>
          <a:noFill/>
        </p:spPr>
        <p:txBody>
          <a:bodyPr wrap="square" anchor="t" lIns="0" rIns="0" tIns="0" bIns="0">
            <a:spAutoFit/>
          </a:bodyPr>
          <a:lstStyle/>
          <a:p>
            <a:pPr algn="l">
              <a:lnSpc>
                <a:spcPct val="104000"/>
              </a:lnSpc>
            </a:pPr>
            <a:r>
              <a:rPr sz="4000" b="1">
                <a:solidFill>
                  <a:srgbClr val="1C2757"/>
                </a:solidFill>
                <a:latin typeface="Poppins"/>
              </a:rPr>
              <a:t>Block 4 of 4</a:t>
            </a:r>
          </a:p>
        </p:txBody>
      </p:sp>
      <p:sp>
        <p:nvSpPr>
          <p:cNvPr id="4" name="Rounded Rectangle 3"/>
          <p:cNvSpPr/>
          <p:nvPr/>
        </p:nvSpPr>
        <p:spPr>
          <a:xfrm>
            <a:off x="822960" y="2240280"/>
            <a:ext cx="4952847" cy="1417320"/>
          </a:xfrm>
          <a:prstGeom prst="roundRect">
            <a:avLst>
              <a:gd name="adj" fmla="val 10000"/>
            </a:avLst>
          </a:prstGeom>
          <a:solidFill>
            <a:srgbClr val="1E90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start</a:t>
            </a:r>
          </a:p>
        </p:txBody>
      </p:sp>
      <p:sp>
        <p:nvSpPr>
          <p:cNvPr id="5" name="Rounded Rectangle 4"/>
          <p:cNvSpPr/>
          <p:nvPr/>
        </p:nvSpPr>
        <p:spPr>
          <a:xfrm>
            <a:off x="1133856" y="2807208"/>
            <a:ext cx="4331055" cy="658368"/>
          </a:xfrm>
          <a:prstGeom prst="roundRect">
            <a:avLst>
              <a:gd name="adj" fmla="val 12000"/>
            </a:avLst>
          </a:prstGeom>
          <a:solidFill>
            <a:srgbClr val="137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icon  🙂</a:t>
            </a:r>
          </a:p>
        </p:txBody>
      </p:sp>
      <p:sp>
        <p:nvSpPr>
          <p:cNvPr id="6" name="TextBox 5"/>
          <p:cNvSpPr txBox="1"/>
          <p:nvPr/>
        </p:nvSpPr>
        <p:spPr>
          <a:xfrm>
            <a:off x="868680"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face appears the moment it runs.</a:t>
            </a:r>
          </a:p>
        </p:txBody>
      </p:sp>
      <p:sp>
        <p:nvSpPr>
          <p:cNvPr id="7" name="Rounded Rectangle 6"/>
          <p:cNvSpPr/>
          <p:nvPr/>
        </p:nvSpPr>
        <p:spPr>
          <a:xfrm>
            <a:off x="6415887" y="2240280"/>
            <a:ext cx="4952847"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button A pressed</a:t>
            </a:r>
          </a:p>
        </p:txBody>
      </p:sp>
      <p:sp>
        <p:nvSpPr>
          <p:cNvPr id="8" name="Rounded Rectangle 7"/>
          <p:cNvSpPr/>
          <p:nvPr/>
        </p:nvSpPr>
        <p:spPr>
          <a:xfrm>
            <a:off x="6726783" y="2807208"/>
            <a:ext cx="4331055" cy="658368"/>
          </a:xfrm>
          <a:prstGeom prst="roundRect">
            <a:avLst>
              <a:gd name="adj" fmla="val 12000"/>
            </a:avLst>
          </a:prstGeom>
          <a:solidFill>
            <a:srgbClr val="8A0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string  “wake up”</a:t>
            </a:r>
          </a:p>
        </p:txBody>
      </p:sp>
      <p:sp>
        <p:nvSpPr>
          <p:cNvPr id="9" name="TextBox 8"/>
          <p:cNvSpPr txBox="1"/>
          <p:nvPr/>
        </p:nvSpPr>
        <p:spPr>
          <a:xfrm>
            <a:off x="6461607" y="3721608"/>
            <a:ext cx="4952847" cy="365760"/>
          </a:xfrm>
          <a:prstGeom prst="rect">
            <a:avLst/>
          </a:prstGeom>
          <a:noFill/>
        </p:spPr>
        <p:txBody>
          <a:bodyPr wrap="square" anchor="t" lIns="0" rIns="0" tIns="0" bIns="0">
            <a:spAutoFit/>
          </a:bodyPr>
          <a:lstStyle/>
          <a:p>
            <a:pPr algn="l"/>
            <a:r>
              <a:rPr sz="1600" b="0">
                <a:solidFill>
                  <a:srgbClr val="57628C"/>
                </a:solidFill>
                <a:latin typeface="Nunito"/>
              </a:rPr>
              <a:t>The words scroll across.</a:t>
            </a:r>
          </a:p>
        </p:txBody>
      </p:sp>
      <p:sp>
        <p:nvSpPr>
          <p:cNvPr id="10" name="Rounded Rectangle 9"/>
          <p:cNvSpPr/>
          <p:nvPr/>
        </p:nvSpPr>
        <p:spPr>
          <a:xfrm>
            <a:off x="822960" y="4389120"/>
            <a:ext cx="4952847"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shake</a:t>
            </a:r>
          </a:p>
        </p:txBody>
      </p:sp>
      <p:sp>
        <p:nvSpPr>
          <p:cNvPr id="11" name="Rounded Rectangle 10"/>
          <p:cNvSpPr/>
          <p:nvPr/>
        </p:nvSpPr>
        <p:spPr>
          <a:xfrm>
            <a:off x="1133856" y="4956048"/>
            <a:ext cx="4331055" cy="658368"/>
          </a:xfrm>
          <a:prstGeom prst="roundRect">
            <a:avLst>
              <a:gd name="adj" fmla="val 12000"/>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play sound  giggle</a:t>
            </a:r>
          </a:p>
        </p:txBody>
      </p:sp>
      <p:sp>
        <p:nvSpPr>
          <p:cNvPr id="12" name="TextBox 11"/>
          <p:cNvSpPr txBox="1"/>
          <p:nvPr/>
        </p:nvSpPr>
        <p:spPr>
          <a:xfrm>
            <a:off x="868680" y="5870448"/>
            <a:ext cx="4952847" cy="365760"/>
          </a:xfrm>
          <a:prstGeom prst="rect">
            <a:avLst/>
          </a:prstGeom>
          <a:noFill/>
        </p:spPr>
        <p:txBody>
          <a:bodyPr wrap="square" anchor="t" lIns="0" rIns="0" tIns="0" bIns="0">
            <a:spAutoFit/>
          </a:bodyPr>
          <a:lstStyle/>
          <a:p>
            <a:pPr algn="l"/>
            <a:r>
              <a:rPr sz="1600" b="0">
                <a:solidFill>
                  <a:srgbClr val="57628C"/>
                </a:solidFill>
                <a:latin typeface="Nunito"/>
              </a:rPr>
              <a:t>Shake it — it giggles.</a:t>
            </a:r>
          </a:p>
        </p:txBody>
      </p:sp>
      <p:sp>
        <p:nvSpPr>
          <p:cNvPr id="13" name="Rounded Rectangle 12"/>
          <p:cNvSpPr/>
          <p:nvPr/>
        </p:nvSpPr>
        <p:spPr>
          <a:xfrm>
            <a:off x="6415887" y="4389120"/>
            <a:ext cx="4952847"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logo pressed</a:t>
            </a:r>
          </a:p>
        </p:txBody>
      </p:sp>
      <p:sp>
        <p:nvSpPr>
          <p:cNvPr id="14" name="Rounded Rectangle 13"/>
          <p:cNvSpPr/>
          <p:nvPr/>
        </p:nvSpPr>
        <p:spPr>
          <a:xfrm>
            <a:off x="6726783" y="4956048"/>
            <a:ext cx="4331055" cy="658368"/>
          </a:xfrm>
          <a:prstGeom prst="roundRect">
            <a:avLst>
              <a:gd name="adj" fmla="val 12000"/>
            </a:avLst>
          </a:prstGeom>
          <a:solidFill>
            <a:srgbClr val="8A00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show leds  🐻</a:t>
            </a:r>
          </a:p>
        </p:txBody>
      </p:sp>
      <p:sp>
        <p:nvSpPr>
          <p:cNvPr id="15" name="TextBox 14"/>
          <p:cNvSpPr txBox="1"/>
          <p:nvPr/>
        </p:nvSpPr>
        <p:spPr>
          <a:xfrm>
            <a:off x="6461607" y="5870448"/>
            <a:ext cx="4952847" cy="365760"/>
          </a:xfrm>
          <a:prstGeom prst="rect">
            <a:avLst/>
          </a:prstGeom>
          <a:noFill/>
        </p:spPr>
        <p:txBody>
          <a:bodyPr wrap="square" anchor="t" lIns="0" rIns="0" tIns="0" bIns="0">
            <a:spAutoFit/>
          </a:bodyPr>
          <a:lstStyle/>
          <a:p>
            <a:pPr algn="l"/>
            <a:r>
              <a:rPr sz="1600" b="0">
                <a:solidFill>
                  <a:srgbClr val="57628C"/>
                </a:solidFill>
                <a:latin typeface="Nunito"/>
              </a:rPr>
              <a:t>Touch the gold logo — your bear wakes up.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F25C78"/>
                </a:solidFill>
                <a:latin typeface="Poppins"/>
              </a:rPr>
              <a:t>I SHOOK IT AND NOTHING HAPPENED</a:t>
            </a:r>
          </a:p>
        </p:txBody>
      </p:sp>
      <p:sp>
        <p:nvSpPr>
          <p:cNvPr id="3" name="TextBox 2"/>
          <p:cNvSpPr txBox="1"/>
          <p:nvPr/>
        </p:nvSpPr>
        <p:spPr>
          <a:xfrm>
            <a:off x="822960" y="1188720"/>
            <a:ext cx="5852160" cy="1463040"/>
          </a:xfrm>
          <a:prstGeom prst="rect">
            <a:avLst/>
          </a:prstGeom>
          <a:noFill/>
        </p:spPr>
        <p:txBody>
          <a:bodyPr wrap="square" anchor="t" lIns="0" rIns="0" tIns="0" bIns="0">
            <a:spAutoFit/>
          </a:bodyPr>
          <a:lstStyle/>
          <a:p>
            <a:pPr algn="l">
              <a:lnSpc>
                <a:spcPct val="104000"/>
              </a:lnSpc>
            </a:pPr>
            <a:r>
              <a:rPr sz="3400" b="1">
                <a:solidFill>
                  <a:srgbClr val="1C2757"/>
                </a:solidFill>
                <a:latin typeface="Poppins"/>
              </a:rPr>
              <a:t>The block wasn't broken.</a:t>
            </a:r>
          </a:p>
        </p:txBody>
      </p:sp>
      <p:sp>
        <p:nvSpPr>
          <p:cNvPr id="4" name="TextBox 3"/>
          <p:cNvSpPr txBox="1"/>
          <p:nvPr/>
        </p:nvSpPr>
        <p:spPr>
          <a:xfrm>
            <a:off x="822960" y="2834640"/>
            <a:ext cx="5669280" cy="1280160"/>
          </a:xfrm>
          <a:prstGeom prst="rect">
            <a:avLst/>
          </a:prstGeom>
          <a:noFill/>
        </p:spPr>
        <p:txBody>
          <a:bodyPr wrap="square" anchor="t" lIns="0" rIns="0" tIns="0" bIns="0">
            <a:spAutoFit/>
          </a:bodyPr>
          <a:lstStyle/>
          <a:p>
            <a:pPr algn="l">
              <a:lnSpc>
                <a:spcPct val="135000"/>
              </a:lnSpc>
            </a:pPr>
            <a:r>
              <a:rPr sz="2400" b="0">
                <a:solidFill>
                  <a:srgbClr val="57628C"/>
                </a:solidFill>
                <a:latin typeface="Nunito"/>
              </a:rPr>
              <a:t>The computer did exactly what I told it —
not what I meant.</a:t>
            </a:r>
          </a:p>
        </p:txBody>
      </p:sp>
      <p:sp>
        <p:nvSpPr>
          <p:cNvPr id="5" name="TextBox 4"/>
          <p:cNvSpPr txBox="1"/>
          <p:nvPr/>
        </p:nvSpPr>
        <p:spPr>
          <a:xfrm>
            <a:off x="6949440" y="1234440"/>
            <a:ext cx="3657600" cy="320040"/>
          </a:xfrm>
          <a:prstGeom prst="rect">
            <a:avLst/>
          </a:prstGeom>
          <a:noFill/>
        </p:spPr>
        <p:txBody>
          <a:bodyPr wrap="square" anchor="t" lIns="0" rIns="0" tIns="0" bIns="0">
            <a:spAutoFit/>
          </a:bodyPr>
          <a:lstStyle/>
          <a:p>
            <a:pPr algn="l"/>
            <a:r>
              <a:rPr sz="1700" b="1">
                <a:solidFill>
                  <a:srgbClr val="F25C78"/>
                </a:solidFill>
                <a:latin typeface="Poppins"/>
              </a:rPr>
              <a:t>✗  Wrong</a:t>
            </a:r>
          </a:p>
        </p:txBody>
      </p:sp>
      <p:sp>
        <p:nvSpPr>
          <p:cNvPr id="6" name="Rounded Rectangle 5"/>
          <p:cNvSpPr/>
          <p:nvPr/>
        </p:nvSpPr>
        <p:spPr>
          <a:xfrm>
            <a:off x="6949440" y="1691640"/>
            <a:ext cx="4206240" cy="1417320"/>
          </a:xfrm>
          <a:prstGeom prst="roundRect">
            <a:avLst>
              <a:gd name="adj" fmla="val 10000"/>
            </a:avLst>
          </a:prstGeom>
          <a:solidFill>
            <a:srgbClr val="1E90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start</a:t>
            </a:r>
          </a:p>
        </p:txBody>
      </p:sp>
      <p:sp>
        <p:nvSpPr>
          <p:cNvPr id="7" name="Rounded Rectangle 6"/>
          <p:cNvSpPr/>
          <p:nvPr/>
        </p:nvSpPr>
        <p:spPr>
          <a:xfrm>
            <a:off x="7260336" y="2258568"/>
            <a:ext cx="3584447" cy="658368"/>
          </a:xfrm>
          <a:prstGeom prst="roundRect">
            <a:avLst>
              <a:gd name="adj" fmla="val 12000"/>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play sound  giggle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IT WAS IN THE WRONG BOX</a:t>
            </a:r>
          </a:p>
        </p:txBody>
      </p:sp>
      <p:sp>
        <p:nvSpPr>
          <p:cNvPr id="3" name="TextBox 2"/>
          <p:cNvSpPr txBox="1"/>
          <p:nvPr/>
        </p:nvSpPr>
        <p:spPr>
          <a:xfrm>
            <a:off x="822960" y="1188720"/>
            <a:ext cx="5852160" cy="2011680"/>
          </a:xfrm>
          <a:prstGeom prst="rect">
            <a:avLst/>
          </a:prstGeom>
          <a:noFill/>
        </p:spPr>
        <p:txBody>
          <a:bodyPr wrap="square" anchor="t" lIns="0" rIns="0" tIns="0" bIns="0">
            <a:spAutoFit/>
          </a:bodyPr>
          <a:lstStyle/>
          <a:p>
            <a:pPr algn="l">
              <a:lnSpc>
                <a:spcPct val="104000"/>
              </a:lnSpc>
            </a:pPr>
            <a:r>
              <a:rPr sz="3400" b="1">
                <a:solidFill>
                  <a:srgbClr val="1C2757"/>
                </a:solidFill>
                <a:latin typeface="Poppins"/>
              </a:rPr>
              <a:t>The block wasn't broken.
It was in the wrong box.</a:t>
            </a:r>
          </a:p>
        </p:txBody>
      </p:sp>
      <p:sp>
        <p:nvSpPr>
          <p:cNvPr id="4" name="TextBox 3"/>
          <p:cNvSpPr txBox="1"/>
          <p:nvPr/>
        </p:nvSpPr>
        <p:spPr>
          <a:xfrm>
            <a:off x="822960" y="3291840"/>
            <a:ext cx="5669280" cy="1280160"/>
          </a:xfrm>
          <a:prstGeom prst="rect">
            <a:avLst/>
          </a:prstGeom>
          <a:noFill/>
        </p:spPr>
        <p:txBody>
          <a:bodyPr wrap="square" anchor="t" lIns="0" rIns="0" tIns="0" bIns="0">
            <a:spAutoFit/>
          </a:bodyPr>
          <a:lstStyle/>
          <a:p>
            <a:pPr algn="l">
              <a:lnSpc>
                <a:spcPct val="135000"/>
              </a:lnSpc>
            </a:pPr>
            <a:r>
              <a:rPr sz="2400" b="0">
                <a:solidFill>
                  <a:srgbClr val="57628C"/>
                </a:solidFill>
                <a:latin typeface="Nunito"/>
              </a:rPr>
              <a:t>The computer did exactly what I told it —
not what I meant.</a:t>
            </a:r>
          </a:p>
        </p:txBody>
      </p:sp>
      <p:sp>
        <p:nvSpPr>
          <p:cNvPr id="5" name="TextBox 4"/>
          <p:cNvSpPr txBox="1"/>
          <p:nvPr/>
        </p:nvSpPr>
        <p:spPr>
          <a:xfrm>
            <a:off x="822960" y="4754880"/>
            <a:ext cx="5669280" cy="822960"/>
          </a:xfrm>
          <a:prstGeom prst="rect">
            <a:avLst/>
          </a:prstGeom>
          <a:noFill/>
        </p:spPr>
        <p:txBody>
          <a:bodyPr wrap="square" anchor="t" lIns="0" rIns="0" tIns="0" bIns="0">
            <a:spAutoFit/>
          </a:bodyPr>
          <a:lstStyle/>
          <a:p>
            <a:pPr algn="l">
              <a:lnSpc>
                <a:spcPct val="115000"/>
              </a:lnSpc>
            </a:pPr>
            <a:r>
              <a:rPr sz="2400" b="1">
                <a:solidFill>
                  <a:srgbClr val="7431F0"/>
                </a:solidFill>
                <a:latin typeface="Poppins"/>
              </a:rPr>
              <a:t>That's debugging.
It's half of what we do in the real class.</a:t>
            </a:r>
          </a:p>
        </p:txBody>
      </p:sp>
      <p:sp>
        <p:nvSpPr>
          <p:cNvPr id="6" name="TextBox 5"/>
          <p:cNvSpPr txBox="1"/>
          <p:nvPr/>
        </p:nvSpPr>
        <p:spPr>
          <a:xfrm>
            <a:off x="6949440" y="1234440"/>
            <a:ext cx="3657600" cy="320040"/>
          </a:xfrm>
          <a:prstGeom prst="rect">
            <a:avLst/>
          </a:prstGeom>
          <a:noFill/>
        </p:spPr>
        <p:txBody>
          <a:bodyPr wrap="square" anchor="t" lIns="0" rIns="0" tIns="0" bIns="0">
            <a:spAutoFit/>
          </a:bodyPr>
          <a:lstStyle/>
          <a:p>
            <a:pPr algn="l"/>
            <a:r>
              <a:rPr sz="1700" b="1">
                <a:solidFill>
                  <a:srgbClr val="F25C78"/>
                </a:solidFill>
                <a:latin typeface="Poppins"/>
              </a:rPr>
              <a:t>✗  Wrong</a:t>
            </a:r>
          </a:p>
        </p:txBody>
      </p:sp>
      <p:sp>
        <p:nvSpPr>
          <p:cNvPr id="7" name="Rounded Rectangle 6"/>
          <p:cNvSpPr/>
          <p:nvPr/>
        </p:nvSpPr>
        <p:spPr>
          <a:xfrm>
            <a:off x="6949440" y="1691640"/>
            <a:ext cx="4206240" cy="1417320"/>
          </a:xfrm>
          <a:prstGeom prst="roundRect">
            <a:avLst>
              <a:gd name="adj" fmla="val 10000"/>
            </a:avLst>
          </a:prstGeom>
          <a:solidFill>
            <a:srgbClr val="1E90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start</a:t>
            </a:r>
          </a:p>
        </p:txBody>
      </p:sp>
      <p:sp>
        <p:nvSpPr>
          <p:cNvPr id="8" name="Rounded Rectangle 7"/>
          <p:cNvSpPr/>
          <p:nvPr/>
        </p:nvSpPr>
        <p:spPr>
          <a:xfrm>
            <a:off x="7260336" y="2258568"/>
            <a:ext cx="3584447" cy="658368"/>
          </a:xfrm>
          <a:prstGeom prst="roundRect">
            <a:avLst>
              <a:gd name="adj" fmla="val 12000"/>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play sound  giggle</a:t>
            </a:r>
          </a:p>
        </p:txBody>
      </p:sp>
      <p:sp>
        <p:nvSpPr>
          <p:cNvPr id="9" name="TextBox 8"/>
          <p:cNvSpPr txBox="1"/>
          <p:nvPr/>
        </p:nvSpPr>
        <p:spPr>
          <a:xfrm>
            <a:off x="6949440" y="3611880"/>
            <a:ext cx="3657600" cy="320040"/>
          </a:xfrm>
          <a:prstGeom prst="rect">
            <a:avLst/>
          </a:prstGeom>
          <a:noFill/>
        </p:spPr>
        <p:txBody>
          <a:bodyPr wrap="square" anchor="t" lIns="0" rIns="0" tIns="0" bIns="0">
            <a:spAutoFit/>
          </a:bodyPr>
          <a:lstStyle/>
          <a:p>
            <a:pPr algn="l"/>
            <a:r>
              <a:rPr sz="1700" b="1">
                <a:solidFill>
                  <a:srgbClr val="0D8783"/>
                </a:solidFill>
                <a:latin typeface="Poppins"/>
              </a:rPr>
              <a:t>✓  Fixed</a:t>
            </a:r>
          </a:p>
        </p:txBody>
      </p:sp>
      <p:sp>
        <p:nvSpPr>
          <p:cNvPr id="10" name="Rounded Rectangle 9"/>
          <p:cNvSpPr/>
          <p:nvPr/>
        </p:nvSpPr>
        <p:spPr>
          <a:xfrm>
            <a:off x="6949440" y="4069080"/>
            <a:ext cx="4206240" cy="1417320"/>
          </a:xfrm>
          <a:prstGeom prst="roundRect">
            <a:avLst>
              <a:gd name="adj" fmla="val 10000"/>
            </a:avLst>
          </a:prstGeom>
          <a:solidFill>
            <a:srgbClr val="B4009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tIns="128016"/>
          <a:lstStyle/>
          <a:p>
            <a:pPr algn="ctr"/>
            <a:r>
              <a:rPr sz="1900" b="1">
                <a:solidFill>
                  <a:srgbClr val="FFFFFF"/>
                </a:solidFill>
                <a:latin typeface="Poppins"/>
              </a:rPr>
              <a:t>on shake</a:t>
            </a:r>
          </a:p>
        </p:txBody>
      </p:sp>
      <p:sp>
        <p:nvSpPr>
          <p:cNvPr id="11" name="Rounded Rectangle 10"/>
          <p:cNvSpPr/>
          <p:nvPr/>
        </p:nvSpPr>
        <p:spPr>
          <a:xfrm>
            <a:off x="7260336" y="4636008"/>
            <a:ext cx="3584447" cy="658368"/>
          </a:xfrm>
          <a:prstGeom prst="roundRect">
            <a:avLst>
              <a:gd name="adj" fmla="val 12000"/>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700" b="1">
                <a:solidFill>
                  <a:srgbClr val="FFFFFF"/>
                </a:solidFill>
                <a:latin typeface="Poppins"/>
              </a:rPr>
              <a:t>play sound  giggle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YOUR TURN  ·  MAKE IT YOURS</a:t>
            </a:r>
          </a:p>
        </p:txBody>
      </p:sp>
      <p:sp>
        <p:nvSpPr>
          <p:cNvPr id="3" name="TextBox 2"/>
          <p:cNvSpPr txBox="1"/>
          <p:nvPr/>
        </p:nvSpPr>
        <p:spPr>
          <a:xfrm>
            <a:off x="822960" y="1051560"/>
            <a:ext cx="10545775" cy="822960"/>
          </a:xfrm>
          <a:prstGeom prst="rect">
            <a:avLst/>
          </a:prstGeom>
          <a:noFill/>
        </p:spPr>
        <p:txBody>
          <a:bodyPr wrap="square" anchor="t" lIns="0" rIns="0" tIns="0" bIns="0">
            <a:spAutoFit/>
          </a:bodyPr>
          <a:lstStyle/>
          <a:p>
            <a:pPr algn="l">
              <a:lnSpc>
                <a:spcPct val="104000"/>
              </a:lnSpc>
            </a:pPr>
            <a:r>
              <a:rPr sz="4200" b="1">
                <a:solidFill>
                  <a:srgbClr val="1C2757"/>
                </a:solidFill>
                <a:latin typeface="Poppins"/>
              </a:rPr>
              <a:t>Ten minutes. Make it yours.</a:t>
            </a:r>
          </a:p>
        </p:txBody>
      </p:sp>
      <p:sp>
        <p:nvSpPr>
          <p:cNvPr id="4" name="Rounded Rectangle 3"/>
          <p:cNvSpPr/>
          <p:nvPr/>
        </p:nvSpPr>
        <p:spPr>
          <a:xfrm>
            <a:off x="822960" y="2148840"/>
            <a:ext cx="3301898" cy="3200400"/>
          </a:xfrm>
          <a:prstGeom prst="roundRect">
            <a:avLst>
              <a:gd name="adj" fmla="val 10000"/>
            </a:avLst>
          </a:prstGeom>
          <a:solidFill>
            <a:srgbClr val="E2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5221224"/>
            <a:ext cx="3301898" cy="128016"/>
          </a:xfrm>
          <a:prstGeom prst="rect">
            <a:avLst/>
          </a:prstGeom>
          <a:solidFill>
            <a:srgbClr val="12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2441448"/>
            <a:ext cx="2716682" cy="2615184"/>
          </a:xfrm>
          <a:prstGeom prst="rect">
            <a:avLst/>
          </a:prstGeom>
          <a:noFill/>
        </p:spPr>
        <p:txBody>
          <a:bodyPr wrap="square" anchor="t" lIns="0" rIns="0" tIns="0" bIns="0">
            <a:spAutoFit/>
          </a:bodyPr>
          <a:lstStyle/>
          <a:p>
            <a:pPr algn="l">
              <a:spcAft>
                <a:spcPts val="600"/>
              </a:spcAft>
            </a:pPr>
            <a:r>
              <a:rPr sz="3000" b="0">
                <a:solidFill>
                  <a:srgbClr val="57628C"/>
                </a:solidFill>
                <a:latin typeface="Nunito"/>
              </a:rPr>
              <a:t>🟢</a:t>
            </a:r>
          </a:p>
          <a:p>
            <a:pPr algn="l">
              <a:spcAft>
                <a:spcPts val="600"/>
              </a:spcAft>
            </a:pPr>
            <a:r>
              <a:rPr sz="2700" b="1">
                <a:solidFill>
                  <a:srgbClr val="1C2757"/>
                </a:solidFill>
                <a:latin typeface="Poppins"/>
              </a:rPr>
              <a:t>Core</a:t>
            </a:r>
          </a:p>
          <a:p>
            <a:pPr algn="l">
              <a:lnSpc>
                <a:spcPct val="130000"/>
              </a:lnSpc>
            </a:pPr>
            <a:r>
              <a:rPr sz="1800" b="0">
                <a:solidFill>
                  <a:srgbClr val="57628C"/>
                </a:solidFill>
                <a:latin typeface="Nunito"/>
              </a:rPr>
              <a:t>“Wake up, your name!” scrolls
when you press A.</a:t>
            </a:r>
          </a:p>
        </p:txBody>
      </p:sp>
      <p:sp>
        <p:nvSpPr>
          <p:cNvPr id="7" name="TextBox 6"/>
          <p:cNvSpPr txBox="1"/>
          <p:nvPr/>
        </p:nvSpPr>
        <p:spPr>
          <a:xfrm>
            <a:off x="1115568" y="4343400"/>
            <a:ext cx="2716682" cy="822960"/>
          </a:xfrm>
          <a:prstGeom prst="rect">
            <a:avLst/>
          </a:prstGeom>
          <a:noFill/>
        </p:spPr>
        <p:txBody>
          <a:bodyPr wrap="square" anchor="t" lIns="0" rIns="0" tIns="0" bIns="0">
            <a:spAutoFit/>
          </a:bodyPr>
          <a:lstStyle/>
          <a:p>
            <a:pPr algn="l">
              <a:lnSpc>
                <a:spcPct val="130000"/>
              </a:lnSpc>
            </a:pPr>
            <a:r>
              <a:rPr sz="1400" b="1">
                <a:solidFill>
                  <a:srgbClr val="1C2757"/>
                </a:solidFill>
                <a:latin typeface="Poppins"/>
              </a:rPr>
              <a:t>show string
"your name"</a:t>
            </a:r>
          </a:p>
        </p:txBody>
      </p:sp>
      <p:sp>
        <p:nvSpPr>
          <p:cNvPr id="8" name="Rounded Rectangle 7"/>
          <p:cNvSpPr/>
          <p:nvPr/>
        </p:nvSpPr>
        <p:spPr>
          <a:xfrm>
            <a:off x="4444898" y="2148840"/>
            <a:ext cx="3301898" cy="3200400"/>
          </a:xfrm>
          <a:prstGeom prst="roundRect">
            <a:avLst>
              <a:gd name="adj" fmla="val 10000"/>
            </a:avLst>
          </a:prstGeom>
          <a:solidFill>
            <a:srgbClr val="FDEE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444898" y="5221224"/>
            <a:ext cx="3301898"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7506" y="2441448"/>
            <a:ext cx="2716682" cy="2615184"/>
          </a:xfrm>
          <a:prstGeom prst="rect">
            <a:avLst/>
          </a:prstGeom>
          <a:noFill/>
        </p:spPr>
        <p:txBody>
          <a:bodyPr wrap="square" anchor="t" lIns="0" rIns="0" tIns="0" bIns="0">
            <a:spAutoFit/>
          </a:bodyPr>
          <a:lstStyle/>
          <a:p>
            <a:pPr algn="l">
              <a:spcAft>
                <a:spcPts val="600"/>
              </a:spcAft>
            </a:pPr>
            <a:r>
              <a:rPr sz="3000" b="0">
                <a:solidFill>
                  <a:srgbClr val="57628C"/>
                </a:solidFill>
                <a:latin typeface="Nunito"/>
              </a:rPr>
              <a:t>🟡</a:t>
            </a:r>
          </a:p>
          <a:p>
            <a:pPr algn="l">
              <a:spcAft>
                <a:spcPts val="600"/>
              </a:spcAft>
            </a:pPr>
            <a:r>
              <a:rPr sz="2700" b="1">
                <a:solidFill>
                  <a:srgbClr val="1C2757"/>
                </a:solidFill>
                <a:latin typeface="Poppins"/>
              </a:rPr>
              <a:t>Stretch</a:t>
            </a:r>
          </a:p>
          <a:p>
            <a:pPr algn="l">
              <a:lnSpc>
                <a:spcPct val="130000"/>
              </a:lnSpc>
            </a:pPr>
            <a:r>
              <a:rPr sz="1800" b="0">
                <a:solidFill>
                  <a:srgbClr val="57628C"/>
                </a:solidFill>
                <a:latin typeface="Nunito"/>
              </a:rPr>
              <a:t>A second bear face
when you press B.</a:t>
            </a:r>
          </a:p>
        </p:txBody>
      </p:sp>
      <p:sp>
        <p:nvSpPr>
          <p:cNvPr id="11" name="TextBox 10"/>
          <p:cNvSpPr txBox="1"/>
          <p:nvPr/>
        </p:nvSpPr>
        <p:spPr>
          <a:xfrm>
            <a:off x="4737506" y="4343400"/>
            <a:ext cx="2716682" cy="822960"/>
          </a:xfrm>
          <a:prstGeom prst="rect">
            <a:avLst/>
          </a:prstGeom>
          <a:noFill/>
        </p:spPr>
        <p:txBody>
          <a:bodyPr wrap="square" anchor="t" lIns="0" rIns="0" tIns="0" bIns="0">
            <a:spAutoFit/>
          </a:bodyPr>
          <a:lstStyle/>
          <a:p>
            <a:pPr algn="l">
              <a:lnSpc>
                <a:spcPct val="130000"/>
              </a:lnSpc>
            </a:pPr>
            <a:r>
              <a:rPr sz="1400" b="1">
                <a:solidFill>
                  <a:srgbClr val="1C2757"/>
                </a:solidFill>
                <a:latin typeface="Poppins"/>
              </a:rPr>
              <a:t>show leds
(click the squares)</a:t>
            </a:r>
          </a:p>
        </p:txBody>
      </p:sp>
      <p:sp>
        <p:nvSpPr>
          <p:cNvPr id="12" name="Rounded Rectangle 11"/>
          <p:cNvSpPr/>
          <p:nvPr/>
        </p:nvSpPr>
        <p:spPr>
          <a:xfrm>
            <a:off x="8066836" y="2148840"/>
            <a:ext cx="3301898" cy="3200400"/>
          </a:xfrm>
          <a:prstGeom prst="roundRect">
            <a:avLst>
              <a:gd name="adj" fmla="val 10000"/>
            </a:avLst>
          </a:prstGeom>
          <a:solidFill>
            <a:srgbClr val="FDE8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8066836" y="5221224"/>
            <a:ext cx="3301898" cy="128016"/>
          </a:xfrm>
          <a:prstGeom prst="rect">
            <a:avLst/>
          </a:prstGeom>
          <a:solidFill>
            <a:srgbClr val="F25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9444" y="2441448"/>
            <a:ext cx="2716682" cy="2615184"/>
          </a:xfrm>
          <a:prstGeom prst="rect">
            <a:avLst/>
          </a:prstGeom>
          <a:noFill/>
        </p:spPr>
        <p:txBody>
          <a:bodyPr wrap="square" anchor="t" lIns="0" rIns="0" tIns="0" bIns="0">
            <a:spAutoFit/>
          </a:bodyPr>
          <a:lstStyle/>
          <a:p>
            <a:pPr algn="l">
              <a:spcAft>
                <a:spcPts val="600"/>
              </a:spcAft>
            </a:pPr>
            <a:r>
              <a:rPr sz="3000" b="0">
                <a:solidFill>
                  <a:srgbClr val="57628C"/>
                </a:solidFill>
                <a:latin typeface="Nunito"/>
              </a:rPr>
              <a:t>🔴</a:t>
            </a:r>
          </a:p>
          <a:p>
            <a:pPr algn="l">
              <a:spcAft>
                <a:spcPts val="600"/>
              </a:spcAft>
            </a:pPr>
            <a:r>
              <a:rPr sz="2700" b="1">
                <a:solidFill>
                  <a:srgbClr val="1C2757"/>
                </a:solidFill>
                <a:latin typeface="Poppins"/>
              </a:rPr>
              <a:t>Boss</a:t>
            </a:r>
          </a:p>
          <a:p>
            <a:pPr algn="l">
              <a:lnSpc>
                <a:spcPct val="130000"/>
              </a:lnSpc>
            </a:pPr>
            <a:r>
              <a:rPr sz="1800" b="0">
                <a:solidFill>
                  <a:srgbClr val="57628C"/>
                </a:solidFill>
                <a:latin typeface="Nunito"/>
              </a:rPr>
              <a:t>A 3-frame waking-up animation
with a sound.</a:t>
            </a:r>
          </a:p>
        </p:txBody>
      </p:sp>
      <p:sp>
        <p:nvSpPr>
          <p:cNvPr id="15" name="TextBox 14"/>
          <p:cNvSpPr txBox="1"/>
          <p:nvPr/>
        </p:nvSpPr>
        <p:spPr>
          <a:xfrm>
            <a:off x="8359444" y="4343400"/>
            <a:ext cx="2716682" cy="822960"/>
          </a:xfrm>
          <a:prstGeom prst="rect">
            <a:avLst/>
          </a:prstGeom>
          <a:noFill/>
        </p:spPr>
        <p:txBody>
          <a:bodyPr wrap="square" anchor="t" lIns="0" rIns="0" tIns="0" bIns="0">
            <a:spAutoFit/>
          </a:bodyPr>
          <a:lstStyle/>
          <a:p>
            <a:pPr algn="l">
              <a:lnSpc>
                <a:spcPct val="130000"/>
              </a:lnSpc>
            </a:pPr>
            <a:r>
              <a:rPr sz="1400" b="1">
                <a:solidFill>
                  <a:srgbClr val="1C2757"/>
                </a:solidFill>
                <a:latin typeface="Poppins"/>
              </a:rPr>
              <a:t>show leds × 3
pause (200)
play sound</a:t>
            </a:r>
          </a:p>
        </p:txBody>
      </p:sp>
      <p:sp>
        <p:nvSpPr>
          <p:cNvPr id="16" name="TextBox 15"/>
          <p:cNvSpPr txBox="1"/>
          <p:nvPr/>
        </p:nvSpPr>
        <p:spPr>
          <a:xfrm>
            <a:off x="822960" y="5623560"/>
            <a:ext cx="10545775" cy="822960"/>
          </a:xfrm>
          <a:prstGeom prst="rect">
            <a:avLst/>
          </a:prstGeom>
          <a:noFill/>
        </p:spPr>
        <p:txBody>
          <a:bodyPr wrap="square" anchor="t" lIns="0" rIns="0" tIns="0" bIns="0">
            <a:spAutoFit/>
          </a:bodyPr>
          <a:lstStyle/>
          <a:p>
            <a:pPr algn="ctr">
              <a:lnSpc>
                <a:spcPct val="115000"/>
              </a:lnSpc>
            </a:pPr>
            <a:r>
              <a:rPr sz="2400" b="1">
                <a:solidFill>
                  <a:srgbClr val="7431F0"/>
                </a:solidFill>
                <a:latin typeface="Poppins"/>
              </a:rPr>
              <a:t>Green is the goal. You do not have to reach 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7431F0"/>
        </a:solidFill>
        <a:effectLst/>
      </p:bgPr>
    </p:bg>
    <p:spTree>
      <p:nvGrpSpPr>
        <p:cNvPr id="1" name=""/>
        <p:cNvGrpSpPr/>
        <p:nvPr/>
      </p:nvGrpSpPr>
      <p:grpSpPr/>
      <p:sp>
        <p:nvSpPr>
          <p:cNvPr id="2" name="TextBox 1"/>
          <p:cNvSpPr txBox="1"/>
          <p:nvPr/>
        </p:nvSpPr>
        <p:spPr>
          <a:xfrm>
            <a:off x="822960" y="1280160"/>
            <a:ext cx="10545775" cy="320040"/>
          </a:xfrm>
          <a:prstGeom prst="rect">
            <a:avLst/>
          </a:prstGeom>
          <a:noFill/>
        </p:spPr>
        <p:txBody>
          <a:bodyPr wrap="square" anchor="t" lIns="0" rIns="0" tIns="0" bIns="0">
            <a:spAutoFit/>
          </a:bodyPr>
          <a:lstStyle/>
          <a:p>
            <a:pPr algn="ctr"/>
            <a:r>
              <a:rPr sz="1400" b="1">
                <a:solidFill>
                  <a:srgbClr val="DDD0FB"/>
                </a:solidFill>
                <a:latin typeface="Poppins"/>
              </a:rPr>
              <a:t>SHOW &amp; TELL</a:t>
            </a:r>
          </a:p>
        </p:txBody>
      </p:sp>
      <p:sp>
        <p:nvSpPr>
          <p:cNvPr id="3" name="TextBox 2"/>
          <p:cNvSpPr txBox="1"/>
          <p:nvPr/>
        </p:nvSpPr>
        <p:spPr>
          <a:xfrm>
            <a:off x="822960" y="1828800"/>
            <a:ext cx="10545775" cy="1097280"/>
          </a:xfrm>
          <a:prstGeom prst="rect">
            <a:avLst/>
          </a:prstGeom>
          <a:noFill/>
        </p:spPr>
        <p:txBody>
          <a:bodyPr wrap="square" anchor="t" lIns="0" rIns="0" tIns="0" bIns="0">
            <a:spAutoFit/>
          </a:bodyPr>
          <a:lstStyle/>
          <a:p>
            <a:pPr algn="ctr">
              <a:lnSpc>
                <a:spcPct val="104000"/>
              </a:lnSpc>
            </a:pPr>
            <a:r>
              <a:rPr sz="6200" b="1">
                <a:solidFill>
                  <a:srgbClr val="FFFFFF"/>
                </a:solidFill>
                <a:latin typeface="Poppins"/>
              </a:rPr>
              <a:t>Show us your bear!</a:t>
            </a:r>
          </a:p>
        </p:txBody>
      </p:sp>
      <p:sp>
        <p:nvSpPr>
          <p:cNvPr id="4" name="TextBox 3"/>
          <p:cNvSpPr txBox="1"/>
          <p:nvPr/>
        </p:nvSpPr>
        <p:spPr>
          <a:xfrm>
            <a:off x="822960" y="3566160"/>
            <a:ext cx="10545775" cy="1463040"/>
          </a:xfrm>
          <a:prstGeom prst="rect">
            <a:avLst/>
          </a:prstGeom>
          <a:noFill/>
        </p:spPr>
        <p:txBody>
          <a:bodyPr wrap="square" anchor="t" lIns="0" rIns="0" tIns="0" bIns="0">
            <a:spAutoFit/>
          </a:bodyPr>
          <a:lstStyle/>
          <a:p>
            <a:pPr algn="ctr">
              <a:spcAft>
                <a:spcPts val="1400"/>
              </a:spcAft>
            </a:pPr>
            <a:r>
              <a:rPr sz="3000" b="1">
                <a:solidFill>
                  <a:srgbClr val="FFFFFF"/>
                </a:solidFill>
                <a:latin typeface="Poppins"/>
              </a:rPr>
              <a:t>What does it do?</a:t>
            </a:r>
          </a:p>
          <a:p>
            <a:pPr algn="ctr"/>
            <a:r>
              <a:rPr sz="3000" b="1">
                <a:solidFill>
                  <a:srgbClr val="FFFFFF"/>
                </a:solidFill>
                <a:latin typeface="Poppins"/>
              </a:rPr>
              <a:t>What was the tricky bit?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0D8783"/>
                </a:solidFill>
                <a:latin typeface="Poppins"/>
              </a:rPr>
              <a:t>TODAY'S SHOUTOUTS</a:t>
            </a:r>
          </a:p>
        </p:txBody>
      </p:sp>
      <p:sp>
        <p:nvSpPr>
          <p:cNvPr id="3" name="TextBox 2"/>
          <p:cNvSpPr txBox="1"/>
          <p:nvPr/>
        </p:nvSpPr>
        <p:spPr>
          <a:xfrm>
            <a:off x="822960" y="1097280"/>
            <a:ext cx="10545775" cy="822960"/>
          </a:xfrm>
          <a:prstGeom prst="rect">
            <a:avLst/>
          </a:prstGeom>
          <a:noFill/>
        </p:spPr>
        <p:txBody>
          <a:bodyPr wrap="square" anchor="t" lIns="0" rIns="0" tIns="0" bIns="0">
            <a:spAutoFit/>
          </a:bodyPr>
          <a:lstStyle/>
          <a:p>
            <a:pPr algn="l">
              <a:lnSpc>
                <a:spcPct val="104000"/>
              </a:lnSpc>
            </a:pPr>
            <a:r>
              <a:rPr sz="4600" b="1">
                <a:solidFill>
                  <a:srgbClr val="1C2757"/>
                </a:solidFill>
                <a:latin typeface="Poppins"/>
              </a:rPr>
              <a:t>Shoutouts</a:t>
            </a:r>
          </a:p>
        </p:txBody>
      </p:sp>
      <p:sp>
        <p:nvSpPr>
          <p:cNvPr id="4" name="Rounded Rectangle 3"/>
          <p:cNvSpPr/>
          <p:nvPr/>
        </p:nvSpPr>
        <p:spPr>
          <a:xfrm>
            <a:off x="822960" y="2286000"/>
            <a:ext cx="3301898" cy="2286000"/>
          </a:xfrm>
          <a:prstGeom prst="roundRect">
            <a:avLst>
              <a:gd name="adj" fmla="val 10000"/>
            </a:avLst>
          </a:prstGeom>
          <a:solidFill>
            <a:srgbClr val="EDE7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822960" y="4443984"/>
            <a:ext cx="3301898" cy="128016"/>
          </a:xfrm>
          <a:prstGeom prst="rect">
            <a:avLst/>
          </a:prstGeom>
          <a:solidFill>
            <a:srgbClr val="743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 y="2578608"/>
            <a:ext cx="2716682" cy="1700784"/>
          </a:xfrm>
          <a:prstGeom prst="rect">
            <a:avLst/>
          </a:prstGeom>
          <a:noFill/>
        </p:spPr>
        <p:txBody>
          <a:bodyPr wrap="square" anchor="t" lIns="0" rIns="0" tIns="0" bIns="0">
            <a:spAutoFit/>
          </a:bodyPr>
          <a:lstStyle/>
          <a:p>
            <a:pPr algn="ctr">
              <a:spcAft>
                <a:spcPts val="1000"/>
              </a:spcAft>
            </a:pPr>
            <a:r>
              <a:rPr sz="4600" b="0">
                <a:solidFill>
                  <a:srgbClr val="57628C"/>
                </a:solidFill>
                <a:latin typeface="Nunito"/>
              </a:rPr>
              <a:t>🎨</a:t>
            </a:r>
          </a:p>
          <a:p>
            <a:pPr algn="ctr"/>
            <a:r>
              <a:rPr sz="2400" b="1">
                <a:solidFill>
                  <a:srgbClr val="1C2757"/>
                </a:solidFill>
                <a:latin typeface="Poppins"/>
              </a:rPr>
              <a:t>Most Creative</a:t>
            </a:r>
          </a:p>
        </p:txBody>
      </p:sp>
      <p:sp>
        <p:nvSpPr>
          <p:cNvPr id="7" name="Rounded Rectangle 6"/>
          <p:cNvSpPr/>
          <p:nvPr/>
        </p:nvSpPr>
        <p:spPr>
          <a:xfrm>
            <a:off x="4444898" y="2286000"/>
            <a:ext cx="3301898" cy="2286000"/>
          </a:xfrm>
          <a:prstGeom prst="roundRect">
            <a:avLst>
              <a:gd name="adj" fmla="val 10000"/>
            </a:avLst>
          </a:prstGeom>
          <a:solidFill>
            <a:srgbClr val="E2F4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ectangle 7"/>
          <p:cNvSpPr/>
          <p:nvPr/>
        </p:nvSpPr>
        <p:spPr>
          <a:xfrm>
            <a:off x="4444898" y="4443984"/>
            <a:ext cx="3301898" cy="128016"/>
          </a:xfrm>
          <a:prstGeom prst="rect">
            <a:avLst/>
          </a:prstGeom>
          <a:solidFill>
            <a:srgbClr val="12A2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37506" y="2578608"/>
            <a:ext cx="2716682" cy="1700784"/>
          </a:xfrm>
          <a:prstGeom prst="rect">
            <a:avLst/>
          </a:prstGeom>
          <a:noFill/>
        </p:spPr>
        <p:txBody>
          <a:bodyPr wrap="square" anchor="t" lIns="0" rIns="0" tIns="0" bIns="0">
            <a:spAutoFit/>
          </a:bodyPr>
          <a:lstStyle/>
          <a:p>
            <a:pPr algn="ctr">
              <a:spcAft>
                <a:spcPts val="1000"/>
              </a:spcAft>
            </a:pPr>
            <a:r>
              <a:rPr sz="4600" b="0">
                <a:solidFill>
                  <a:srgbClr val="57628C"/>
                </a:solidFill>
                <a:latin typeface="Nunito"/>
              </a:rPr>
              <a:t>🐛</a:t>
            </a:r>
          </a:p>
          <a:p>
            <a:pPr algn="ctr"/>
            <a:r>
              <a:rPr sz="2400" b="1">
                <a:solidFill>
                  <a:srgbClr val="1C2757"/>
                </a:solidFill>
                <a:latin typeface="Poppins"/>
              </a:rPr>
              <a:t>Best Bug Fix</a:t>
            </a:r>
          </a:p>
        </p:txBody>
      </p:sp>
      <p:sp>
        <p:nvSpPr>
          <p:cNvPr id="10" name="Rounded Rectangle 9"/>
          <p:cNvSpPr/>
          <p:nvPr/>
        </p:nvSpPr>
        <p:spPr>
          <a:xfrm>
            <a:off x="8066836" y="2286000"/>
            <a:ext cx="3301898" cy="2286000"/>
          </a:xfrm>
          <a:prstGeom prst="roundRect">
            <a:avLst>
              <a:gd name="adj" fmla="val 10000"/>
            </a:avLst>
          </a:prstGeom>
          <a:solidFill>
            <a:srgbClr val="FDEE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8066836" y="4443984"/>
            <a:ext cx="3301898" cy="128016"/>
          </a:xfrm>
          <a:prstGeom prst="rect">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59444" y="2578608"/>
            <a:ext cx="2716682" cy="1700784"/>
          </a:xfrm>
          <a:prstGeom prst="rect">
            <a:avLst/>
          </a:prstGeom>
          <a:noFill/>
        </p:spPr>
        <p:txBody>
          <a:bodyPr wrap="square" anchor="t" lIns="0" rIns="0" tIns="0" bIns="0">
            <a:spAutoFit/>
          </a:bodyPr>
          <a:lstStyle/>
          <a:p>
            <a:pPr algn="ctr">
              <a:spcAft>
                <a:spcPts val="1000"/>
              </a:spcAft>
            </a:pPr>
            <a:r>
              <a:rPr sz="4600" b="0">
                <a:solidFill>
                  <a:srgbClr val="57628C"/>
                </a:solidFill>
                <a:latin typeface="Nunito"/>
              </a:rPr>
              <a:t>🌈</a:t>
            </a:r>
          </a:p>
          <a:p>
            <a:pPr algn="ctr"/>
            <a:r>
              <a:rPr sz="2400" b="1">
                <a:solidFill>
                  <a:srgbClr val="1C2757"/>
                </a:solidFill>
                <a:latin typeface="Poppins"/>
              </a:rPr>
              <a:t>Most Colourful</a:t>
            </a:r>
          </a:p>
        </p:txBody>
      </p:sp>
      <p:sp>
        <p:nvSpPr>
          <p:cNvPr id="13" name="TextBox 12"/>
          <p:cNvSpPr txBox="1"/>
          <p:nvPr/>
        </p:nvSpPr>
        <p:spPr>
          <a:xfrm>
            <a:off x="822960" y="5120640"/>
            <a:ext cx="10545775" cy="822960"/>
          </a:xfrm>
          <a:prstGeom prst="rect">
            <a:avLst/>
          </a:prstGeom>
          <a:noFill/>
        </p:spPr>
        <p:txBody>
          <a:bodyPr wrap="square" anchor="t" lIns="0" rIns="0" tIns="0" bIns="0">
            <a:spAutoFit/>
          </a:bodyPr>
          <a:lstStyle/>
          <a:p>
            <a:pPr algn="ctr">
              <a:lnSpc>
                <a:spcPct val="115000"/>
              </a:lnSpc>
            </a:pPr>
            <a:r>
              <a:rPr sz="2400" b="1">
                <a:solidFill>
                  <a:srgbClr val="1C2757"/>
                </a:solidFill>
                <a:latin typeface="Poppins"/>
              </a:rPr>
              <a:t>Everybody in this room wrote a working program today.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757"/>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F59A23"/>
                </a:solidFill>
                <a:latin typeface="Poppins"/>
              </a:rPr>
              <a:t>SNEAK PEEK  ·  SESSION 7</a:t>
            </a:r>
          </a:p>
        </p:txBody>
      </p:sp>
      <p:sp>
        <p:nvSpPr>
          <p:cNvPr id="3" name="TextBox 2"/>
          <p:cNvSpPr txBox="1"/>
          <p:nvPr/>
        </p:nvSpPr>
        <p:spPr>
          <a:xfrm>
            <a:off x="822960" y="1463040"/>
            <a:ext cx="5120640" cy="2377440"/>
          </a:xfrm>
          <a:prstGeom prst="rect">
            <a:avLst/>
          </a:prstGeom>
          <a:noFill/>
        </p:spPr>
        <p:txBody>
          <a:bodyPr wrap="square" anchor="t" lIns="0" rIns="0" tIns="0" bIns="0">
            <a:spAutoFit/>
          </a:bodyPr>
          <a:lstStyle/>
          <a:p>
            <a:pPr algn="l">
              <a:lnSpc>
                <a:spcPct val="104000"/>
              </a:lnSpc>
            </a:pPr>
            <a:r>
              <a:rPr sz="4400" b="1">
                <a:solidFill>
                  <a:srgbClr val="FFFFFF"/>
                </a:solidFill>
                <a:latin typeface="Poppins"/>
              </a:rPr>
              <a:t>It watches your
room while
you sleep.</a:t>
            </a:r>
          </a:p>
        </p:txBody>
      </p:sp>
      <p:sp>
        <p:nvSpPr>
          <p:cNvPr id="4" name="TextBox 3"/>
          <p:cNvSpPr txBox="1"/>
          <p:nvPr/>
        </p:nvSpPr>
        <p:spPr>
          <a:xfrm>
            <a:off x="822960" y="4114800"/>
            <a:ext cx="4937760" cy="1280160"/>
          </a:xfrm>
          <a:prstGeom prst="rect">
            <a:avLst/>
          </a:prstGeom>
          <a:noFill/>
        </p:spPr>
        <p:txBody>
          <a:bodyPr wrap="square" anchor="t" lIns="0" rIns="0" tIns="0" bIns="0">
            <a:spAutoFit/>
          </a:bodyPr>
          <a:lstStyle/>
          <a:p>
            <a:pPr algn="l">
              <a:lnSpc>
                <a:spcPct val="140000"/>
              </a:lnSpc>
            </a:pPr>
            <a:r>
              <a:rPr sz="2000" b="0">
                <a:solidFill>
                  <a:srgbClr val="C6CEE8"/>
                </a:solidFill>
                <a:latin typeface="Nunito"/>
              </a:rPr>
              <a:t>Leave it running all night. In the morning, open the chart and see what your room did while you slept.</a:t>
            </a:r>
          </a:p>
        </p:txBody>
      </p:sp>
      <p:sp>
        <p:nvSpPr>
          <p:cNvPr id="5" name="Rounded Rectangle 4"/>
          <p:cNvSpPr/>
          <p:nvPr/>
        </p:nvSpPr>
        <p:spPr>
          <a:xfrm>
            <a:off x="6400800" y="1554480"/>
            <a:ext cx="4937760" cy="3657600"/>
          </a:xfrm>
          <a:prstGeom prst="roundRect">
            <a:avLst>
              <a:gd name="adj" fmla="val 9000"/>
            </a:avLst>
          </a:prstGeom>
          <a:noFill/>
          <a:ln w="22225">
            <a:solidFill>
              <a:srgbClr val="5A669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6583680" y="2377440"/>
            <a:ext cx="4572000" cy="2011680"/>
          </a:xfrm>
          <a:prstGeom prst="rect">
            <a:avLst/>
          </a:prstGeom>
          <a:noFill/>
        </p:spPr>
        <p:txBody>
          <a:bodyPr wrap="square" anchor="t" lIns="0" rIns="0" tIns="0" bIns="0">
            <a:spAutoFit/>
          </a:bodyPr>
          <a:lstStyle/>
          <a:p>
            <a:pPr algn="ctr">
              <a:spcAft>
                <a:spcPts val="1000"/>
              </a:spcAft>
            </a:pPr>
            <a:r>
              <a:rPr sz="5400" b="0">
                <a:solidFill>
                  <a:srgbClr val="F59A23"/>
                </a:solidFill>
                <a:latin typeface="Nunito"/>
              </a:rPr>
              <a:t>▶</a:t>
            </a:r>
          </a:p>
          <a:p>
            <a:pPr algn="ctr">
              <a:spcAft>
                <a:spcPts val="600"/>
              </a:spcAft>
            </a:pPr>
            <a:r>
              <a:rPr sz="2200" b="1">
                <a:solidFill>
                  <a:srgbClr val="FFFFFF"/>
                </a:solidFill>
                <a:latin typeface="Poppins"/>
              </a:rPr>
              <a:t>Play the Session 7 clip</a:t>
            </a:r>
          </a:p>
          <a:p>
            <a:pPr algn="ctr"/>
            <a:r>
              <a:rPr sz="1500" b="0">
                <a:solidFill>
                  <a:srgbClr val="9AA4C8"/>
                </a:solidFill>
                <a:latin typeface="Nunito"/>
              </a:rPr>
              <a:t>60–90s  ·  share the tab with audio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C2757"/>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ctr"/>
            <a:r>
              <a:rPr sz="1400" b="1">
                <a:solidFill>
                  <a:srgbClr val="F59A23"/>
                </a:solidFill>
                <a:latin typeface="Poppins"/>
              </a:rPr>
              <a:t>SNEAK PEEK  ·  SESSION 8</a:t>
            </a:r>
          </a:p>
        </p:txBody>
      </p:sp>
      <p:sp>
        <p:nvSpPr>
          <p:cNvPr id="3" name="TextBox 2"/>
          <p:cNvSpPr txBox="1"/>
          <p:nvPr/>
        </p:nvSpPr>
        <p:spPr>
          <a:xfrm>
            <a:off x="822960" y="1188720"/>
            <a:ext cx="10545775" cy="1005840"/>
          </a:xfrm>
          <a:prstGeom prst="rect">
            <a:avLst/>
          </a:prstGeom>
          <a:noFill/>
        </p:spPr>
        <p:txBody>
          <a:bodyPr wrap="square" anchor="t" lIns="0" rIns="0" tIns="0" bIns="0">
            <a:spAutoFit/>
          </a:bodyPr>
          <a:lstStyle/>
          <a:p>
            <a:pPr algn="ctr">
              <a:lnSpc>
                <a:spcPct val="104000"/>
              </a:lnSpc>
            </a:pPr>
            <a:r>
              <a:rPr sz="5800" b="1">
                <a:solidFill>
                  <a:srgbClr val="FFFFFF"/>
                </a:solidFill>
                <a:latin typeface="Poppins"/>
              </a:rPr>
              <a:t>Demo Day. Your invention.</a:t>
            </a:r>
          </a:p>
        </p:txBody>
      </p:sp>
      <p:sp>
        <p:nvSpPr>
          <p:cNvPr id="4" name="Rounded Rectangle 3"/>
          <p:cNvSpPr/>
          <p:nvPr/>
        </p:nvSpPr>
        <p:spPr>
          <a:xfrm>
            <a:off x="822960" y="2651760"/>
            <a:ext cx="2430703" cy="17373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115568" y="2944368"/>
            <a:ext cx="1845487" cy="1152143"/>
          </a:xfrm>
          <a:prstGeom prst="rect">
            <a:avLst/>
          </a:prstGeom>
          <a:noFill/>
        </p:spPr>
        <p:txBody>
          <a:bodyPr wrap="square" anchor="t" lIns="0" rIns="0" tIns="0" bIns="0">
            <a:spAutoFit/>
          </a:bodyPr>
          <a:lstStyle/>
          <a:p>
            <a:pPr algn="ctr">
              <a:spcAft>
                <a:spcPts val="800"/>
              </a:spcAft>
            </a:pPr>
            <a:r>
              <a:rPr sz="3400" b="0">
                <a:solidFill>
                  <a:srgbClr val="57628C"/>
                </a:solidFill>
                <a:latin typeface="Nunito"/>
              </a:rPr>
              <a:t>⏱️</a:t>
            </a:r>
          </a:p>
          <a:p>
            <a:pPr algn="ctr"/>
            <a:r>
              <a:rPr sz="2000" b="1">
                <a:solidFill>
                  <a:srgbClr val="FFFFFF"/>
                </a:solidFill>
                <a:latin typeface="Poppins"/>
              </a:rPr>
              <a:t>Timer</a:t>
            </a:r>
          </a:p>
        </p:txBody>
      </p:sp>
      <p:sp>
        <p:nvSpPr>
          <p:cNvPr id="6" name="Rounded Rectangle 5"/>
          <p:cNvSpPr/>
          <p:nvPr/>
        </p:nvSpPr>
        <p:spPr>
          <a:xfrm>
            <a:off x="3527983" y="2651760"/>
            <a:ext cx="2430703" cy="17373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820591" y="2944368"/>
            <a:ext cx="1845487" cy="1152143"/>
          </a:xfrm>
          <a:prstGeom prst="rect">
            <a:avLst/>
          </a:prstGeom>
          <a:noFill/>
        </p:spPr>
        <p:txBody>
          <a:bodyPr wrap="square" anchor="t" lIns="0" rIns="0" tIns="0" bIns="0">
            <a:spAutoFit/>
          </a:bodyPr>
          <a:lstStyle/>
          <a:p>
            <a:pPr algn="ctr">
              <a:spcAft>
                <a:spcPts val="800"/>
              </a:spcAft>
            </a:pPr>
            <a:r>
              <a:rPr sz="3400" b="0">
                <a:solidFill>
                  <a:srgbClr val="57628C"/>
                </a:solidFill>
                <a:latin typeface="Nunito"/>
              </a:rPr>
              <a:t>👣</a:t>
            </a:r>
          </a:p>
          <a:p>
            <a:pPr algn="ctr"/>
            <a:r>
              <a:rPr sz="2000" b="1">
                <a:solidFill>
                  <a:srgbClr val="FFFFFF"/>
                </a:solidFill>
                <a:latin typeface="Poppins"/>
              </a:rPr>
              <a:t>Steps</a:t>
            </a:r>
          </a:p>
        </p:txBody>
      </p:sp>
      <p:sp>
        <p:nvSpPr>
          <p:cNvPr id="8" name="Rounded Rectangle 7"/>
          <p:cNvSpPr/>
          <p:nvPr/>
        </p:nvSpPr>
        <p:spPr>
          <a:xfrm>
            <a:off x="6233007" y="2651760"/>
            <a:ext cx="2430703" cy="17373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525615" y="2944368"/>
            <a:ext cx="1845487" cy="1152143"/>
          </a:xfrm>
          <a:prstGeom prst="rect">
            <a:avLst/>
          </a:prstGeom>
          <a:noFill/>
        </p:spPr>
        <p:txBody>
          <a:bodyPr wrap="square" anchor="t" lIns="0" rIns="0" tIns="0" bIns="0">
            <a:spAutoFit/>
          </a:bodyPr>
          <a:lstStyle/>
          <a:p>
            <a:pPr algn="ctr">
              <a:spcAft>
                <a:spcPts val="800"/>
              </a:spcAft>
            </a:pPr>
            <a:r>
              <a:rPr sz="3400" b="0">
                <a:solidFill>
                  <a:srgbClr val="57628C"/>
                </a:solidFill>
                <a:latin typeface="Nunito"/>
              </a:rPr>
              <a:t>🎲</a:t>
            </a:r>
          </a:p>
          <a:p>
            <a:pPr algn="ctr"/>
            <a:r>
              <a:rPr sz="2000" b="1">
                <a:solidFill>
                  <a:srgbClr val="FFFFFF"/>
                </a:solidFill>
                <a:latin typeface="Poppins"/>
              </a:rPr>
              <a:t>Dice</a:t>
            </a:r>
          </a:p>
        </p:txBody>
      </p:sp>
      <p:sp>
        <p:nvSpPr>
          <p:cNvPr id="10" name="Rounded Rectangle 9"/>
          <p:cNvSpPr/>
          <p:nvPr/>
        </p:nvSpPr>
        <p:spPr>
          <a:xfrm>
            <a:off x="8938031" y="2651760"/>
            <a:ext cx="2430703" cy="17373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230639" y="2944368"/>
            <a:ext cx="1845487" cy="1152143"/>
          </a:xfrm>
          <a:prstGeom prst="rect">
            <a:avLst/>
          </a:prstGeom>
          <a:noFill/>
        </p:spPr>
        <p:txBody>
          <a:bodyPr wrap="square" anchor="t" lIns="0" rIns="0" tIns="0" bIns="0">
            <a:spAutoFit/>
          </a:bodyPr>
          <a:lstStyle/>
          <a:p>
            <a:pPr algn="ctr">
              <a:spcAft>
                <a:spcPts val="800"/>
              </a:spcAft>
            </a:pPr>
            <a:r>
              <a:rPr sz="3400" b="0">
                <a:solidFill>
                  <a:srgbClr val="57628C"/>
                </a:solidFill>
                <a:latin typeface="Nunito"/>
              </a:rPr>
              <a:t>💡</a:t>
            </a:r>
          </a:p>
          <a:p>
            <a:pPr algn="ctr"/>
            <a:r>
              <a:rPr sz="2000" b="1">
                <a:solidFill>
                  <a:srgbClr val="FFFFFF"/>
                </a:solidFill>
                <a:latin typeface="Poppins"/>
              </a:rPr>
              <a:t>Your idea</a:t>
            </a:r>
          </a:p>
        </p:txBody>
      </p:sp>
      <p:sp>
        <p:nvSpPr>
          <p:cNvPr id="12" name="TextBox 11"/>
          <p:cNvSpPr txBox="1"/>
          <p:nvPr/>
        </p:nvSpPr>
        <p:spPr>
          <a:xfrm>
            <a:off x="822960" y="4663440"/>
            <a:ext cx="10545775" cy="914400"/>
          </a:xfrm>
          <a:prstGeom prst="rect">
            <a:avLst/>
          </a:prstGeom>
          <a:noFill/>
        </p:spPr>
        <p:txBody>
          <a:bodyPr wrap="square" anchor="t" lIns="0" rIns="0" tIns="0" bIns="0">
            <a:spAutoFit/>
          </a:bodyPr>
          <a:lstStyle/>
          <a:p>
            <a:pPr algn="ctr">
              <a:lnSpc>
                <a:spcPct val="140000"/>
              </a:lnSpc>
            </a:pPr>
            <a:r>
              <a:rPr sz="2000" b="0">
                <a:solidFill>
                  <a:srgbClr val="C6CEE8"/>
                </a:solidFill>
                <a:latin typeface="Nunito"/>
              </a:rPr>
              <a:t>Each child picks an invention, builds it from everything they have learned, and shows it live — with the one bug that nearly beat them.</a:t>
            </a:r>
          </a:p>
        </p:txBody>
      </p:sp>
      <p:sp>
        <p:nvSpPr>
          <p:cNvPr id="13" name="TextBox 12"/>
          <p:cNvSpPr txBox="1"/>
          <p:nvPr/>
        </p:nvSpPr>
        <p:spPr>
          <a:xfrm>
            <a:off x="822960" y="5715000"/>
            <a:ext cx="10545775" cy="822960"/>
          </a:xfrm>
          <a:prstGeom prst="rect">
            <a:avLst/>
          </a:prstGeom>
          <a:noFill/>
        </p:spPr>
        <p:txBody>
          <a:bodyPr wrap="square" anchor="t" lIns="0" rIns="0" tIns="0" bIns="0">
            <a:spAutoFit/>
          </a:bodyPr>
          <a:lstStyle/>
          <a:p>
            <a:pPr algn="ctr">
              <a:lnSpc>
                <a:spcPct val="115000"/>
              </a:lnSpc>
            </a:pPr>
            <a:r>
              <a:rPr sz="2000" b="1">
                <a:solidFill>
                  <a:srgbClr val="F59A23"/>
                </a:solidFill>
                <a:latin typeface="Poppins"/>
              </a:rPr>
              <a:t>All of it is built on what you just did: an event, a block inside it, and a bug you fixed.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C2757"/>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F59A23"/>
                </a:solidFill>
                <a:latin typeface="Poppins"/>
              </a:rPr>
              <a:t>FOR THE GROWN-UPS</a:t>
            </a:r>
          </a:p>
        </p:txBody>
      </p:sp>
      <p:sp>
        <p:nvSpPr>
          <p:cNvPr id="3" name="TextBox 2"/>
          <p:cNvSpPr txBox="1"/>
          <p:nvPr/>
        </p:nvSpPr>
        <p:spPr>
          <a:xfrm>
            <a:off x="822960" y="1051560"/>
            <a:ext cx="10545775" cy="868680"/>
          </a:xfrm>
          <a:prstGeom prst="rect">
            <a:avLst/>
          </a:prstGeom>
          <a:noFill/>
        </p:spPr>
        <p:txBody>
          <a:bodyPr wrap="square" anchor="t" lIns="0" rIns="0" tIns="0" bIns="0">
            <a:spAutoFit/>
          </a:bodyPr>
          <a:lstStyle/>
          <a:p>
            <a:pPr algn="l">
              <a:lnSpc>
                <a:spcPct val="104000"/>
              </a:lnSpc>
            </a:pPr>
            <a:r>
              <a:rPr sz="5200" b="1">
                <a:solidFill>
                  <a:srgbClr val="FFFFFF"/>
                </a:solidFill>
                <a:latin typeface="Poppins"/>
              </a:rPr>
              <a:t>Maker Level</a:t>
            </a:r>
          </a:p>
        </p:txBody>
      </p:sp>
      <p:sp>
        <p:nvSpPr>
          <p:cNvPr id="4" name="Rounded Rectangle 3"/>
          <p:cNvSpPr/>
          <p:nvPr/>
        </p:nvSpPr>
        <p:spPr>
          <a:xfrm>
            <a:off x="822960"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24128"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8</a:t>
            </a:r>
          </a:p>
          <a:p>
            <a:pPr algn="ctr">
              <a:lnSpc>
                <a:spcPct val="125000"/>
              </a:lnSpc>
            </a:pPr>
            <a:r>
              <a:rPr sz="1500" b="0">
                <a:solidFill>
                  <a:srgbClr val="C6CEE8"/>
                </a:solidFill>
                <a:latin typeface="Nunito"/>
              </a:rPr>
              <a:t>live sessions</a:t>
            </a:r>
          </a:p>
        </p:txBody>
      </p:sp>
      <p:sp>
        <p:nvSpPr>
          <p:cNvPr id="6" name="Rounded Rectangle 5"/>
          <p:cNvSpPr/>
          <p:nvPr/>
        </p:nvSpPr>
        <p:spPr>
          <a:xfrm>
            <a:off x="3527983"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729151"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4</a:t>
            </a:r>
          </a:p>
          <a:p>
            <a:pPr algn="ctr">
              <a:lnSpc>
                <a:spcPct val="125000"/>
              </a:lnSpc>
            </a:pPr>
            <a:r>
              <a:rPr sz="1500" b="0">
                <a:solidFill>
                  <a:srgbClr val="C6CEE8"/>
                </a:solidFill>
                <a:latin typeface="Nunito"/>
              </a:rPr>
              <a:t>children per pod</a:t>
            </a:r>
          </a:p>
        </p:txBody>
      </p:sp>
      <p:sp>
        <p:nvSpPr>
          <p:cNvPr id="8" name="Rounded Rectangle 7"/>
          <p:cNvSpPr/>
          <p:nvPr/>
        </p:nvSpPr>
        <p:spPr>
          <a:xfrm>
            <a:off x="6233007"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34175"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1</a:t>
            </a:r>
          </a:p>
          <a:p>
            <a:pPr algn="ctr">
              <a:lnSpc>
                <a:spcPct val="125000"/>
              </a:lnSpc>
            </a:pPr>
            <a:r>
              <a:rPr sz="1500" b="0">
                <a:solidFill>
                  <a:srgbClr val="C6CEE8"/>
                </a:solidFill>
                <a:latin typeface="Nunito"/>
              </a:rPr>
              <a:t>kit shipped to your door</a:t>
            </a:r>
          </a:p>
        </p:txBody>
      </p:sp>
      <p:sp>
        <p:nvSpPr>
          <p:cNvPr id="10" name="Rounded Rectangle 9"/>
          <p:cNvSpPr/>
          <p:nvPr/>
        </p:nvSpPr>
        <p:spPr>
          <a:xfrm>
            <a:off x="8938031"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39199"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8–11</a:t>
            </a:r>
          </a:p>
          <a:p>
            <a:pPr algn="ctr">
              <a:lnSpc>
                <a:spcPct val="125000"/>
              </a:lnSpc>
            </a:pPr>
            <a:r>
              <a:rPr sz="1500" b="0">
                <a:solidFill>
                  <a:srgbClr val="C6CEE8"/>
                </a:solidFill>
                <a:latin typeface="Nunito"/>
              </a:rPr>
              <a:t>ages</a:t>
            </a:r>
          </a:p>
        </p:txBody>
      </p:sp>
      <p:sp>
        <p:nvSpPr>
          <p:cNvPr id="12" name="TextBox 11"/>
          <p:cNvSpPr txBox="1"/>
          <p:nvPr/>
        </p:nvSpPr>
        <p:spPr>
          <a:xfrm>
            <a:off x="822960" y="3931920"/>
            <a:ext cx="10545775" cy="1097280"/>
          </a:xfrm>
          <a:prstGeom prst="rect">
            <a:avLst/>
          </a:prstGeom>
          <a:noFill/>
        </p:spPr>
        <p:txBody>
          <a:bodyPr wrap="square" anchor="t" lIns="0" rIns="0" tIns="0" bIns="0">
            <a:spAutoFit/>
          </a:bodyPr>
          <a:lstStyle/>
          <a:p>
            <a:pPr algn="l">
              <a:lnSpc>
                <a:spcPct val="145000"/>
              </a:lnSpc>
            </a:pPr>
            <a:r>
              <a:rPr sz="1900" b="0">
                <a:solidFill>
                  <a:srgbClr val="C6CEE8"/>
                </a:solidFill>
                <a:latin typeface="Nunito"/>
              </a:rPr>
              <a:t>Every session ends with something that works. The last one is Demo Day. The kit — micro:bit, battery pack, cable — arrives before the session that needs it, so there is nothing to buy separately.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C2757"/>
        </a:solidFill>
        <a:effectLst/>
      </p:bgPr>
    </p:bg>
    <p:spTree>
      <p:nvGrpSpPr>
        <p:cNvPr id="1" name=""/>
        <p:cNvGrpSpPr/>
        <p:nvPr/>
      </p:nvGrpSpPr>
      <p:grpSpPr/>
      <p:sp>
        <p:nvSpPr>
          <p:cNvPr id="2" name="TextBox 1"/>
          <p:cNvSpPr txBox="1"/>
          <p:nvPr/>
        </p:nvSpPr>
        <p:spPr>
          <a:xfrm>
            <a:off x="822960" y="640080"/>
            <a:ext cx="10545775" cy="320040"/>
          </a:xfrm>
          <a:prstGeom prst="rect">
            <a:avLst/>
          </a:prstGeom>
          <a:noFill/>
        </p:spPr>
        <p:txBody>
          <a:bodyPr wrap="square" anchor="t" lIns="0" rIns="0" tIns="0" bIns="0">
            <a:spAutoFit/>
          </a:bodyPr>
          <a:lstStyle/>
          <a:p>
            <a:pPr algn="l"/>
            <a:r>
              <a:rPr sz="1400" b="1">
                <a:solidFill>
                  <a:srgbClr val="F59A23"/>
                </a:solidFill>
                <a:latin typeface="Poppins"/>
              </a:rPr>
              <a:t>FOR THE GROWN-UPS</a:t>
            </a:r>
          </a:p>
        </p:txBody>
      </p:sp>
      <p:sp>
        <p:nvSpPr>
          <p:cNvPr id="3" name="TextBox 2"/>
          <p:cNvSpPr txBox="1"/>
          <p:nvPr/>
        </p:nvSpPr>
        <p:spPr>
          <a:xfrm>
            <a:off x="822960" y="1051560"/>
            <a:ext cx="10545775" cy="868680"/>
          </a:xfrm>
          <a:prstGeom prst="rect">
            <a:avLst/>
          </a:prstGeom>
          <a:noFill/>
        </p:spPr>
        <p:txBody>
          <a:bodyPr wrap="square" anchor="t" lIns="0" rIns="0" tIns="0" bIns="0">
            <a:spAutoFit/>
          </a:bodyPr>
          <a:lstStyle/>
          <a:p>
            <a:pPr algn="l">
              <a:lnSpc>
                <a:spcPct val="104000"/>
              </a:lnSpc>
            </a:pPr>
            <a:r>
              <a:rPr sz="5200" b="1">
                <a:solidFill>
                  <a:srgbClr val="FFFFFF"/>
                </a:solidFill>
                <a:latin typeface="Poppins"/>
              </a:rPr>
              <a:t>Maker Level</a:t>
            </a:r>
          </a:p>
        </p:txBody>
      </p:sp>
      <p:sp>
        <p:nvSpPr>
          <p:cNvPr id="4" name="Rounded Rectangle 3"/>
          <p:cNvSpPr/>
          <p:nvPr/>
        </p:nvSpPr>
        <p:spPr>
          <a:xfrm>
            <a:off x="822960"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1024128"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8</a:t>
            </a:r>
          </a:p>
          <a:p>
            <a:pPr algn="ctr">
              <a:lnSpc>
                <a:spcPct val="125000"/>
              </a:lnSpc>
            </a:pPr>
            <a:r>
              <a:rPr sz="1500" b="0">
                <a:solidFill>
                  <a:srgbClr val="C6CEE8"/>
                </a:solidFill>
                <a:latin typeface="Nunito"/>
              </a:rPr>
              <a:t>live sessions</a:t>
            </a:r>
          </a:p>
        </p:txBody>
      </p:sp>
      <p:sp>
        <p:nvSpPr>
          <p:cNvPr id="6" name="Rounded Rectangle 5"/>
          <p:cNvSpPr/>
          <p:nvPr/>
        </p:nvSpPr>
        <p:spPr>
          <a:xfrm>
            <a:off x="3527983"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3729151"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4</a:t>
            </a:r>
          </a:p>
          <a:p>
            <a:pPr algn="ctr">
              <a:lnSpc>
                <a:spcPct val="125000"/>
              </a:lnSpc>
            </a:pPr>
            <a:r>
              <a:rPr sz="1500" b="0">
                <a:solidFill>
                  <a:srgbClr val="C6CEE8"/>
                </a:solidFill>
                <a:latin typeface="Nunito"/>
              </a:rPr>
              <a:t>children per pod</a:t>
            </a:r>
          </a:p>
        </p:txBody>
      </p:sp>
      <p:sp>
        <p:nvSpPr>
          <p:cNvPr id="8" name="Rounded Rectangle 7"/>
          <p:cNvSpPr/>
          <p:nvPr/>
        </p:nvSpPr>
        <p:spPr>
          <a:xfrm>
            <a:off x="6233007"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434175"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1</a:t>
            </a:r>
          </a:p>
          <a:p>
            <a:pPr algn="ctr">
              <a:lnSpc>
                <a:spcPct val="125000"/>
              </a:lnSpc>
            </a:pPr>
            <a:r>
              <a:rPr sz="1500" b="0">
                <a:solidFill>
                  <a:srgbClr val="C6CEE8"/>
                </a:solidFill>
                <a:latin typeface="Nunito"/>
              </a:rPr>
              <a:t>kit shipped to your door</a:t>
            </a:r>
          </a:p>
        </p:txBody>
      </p:sp>
      <p:sp>
        <p:nvSpPr>
          <p:cNvPr id="10" name="Rounded Rectangle 9"/>
          <p:cNvSpPr/>
          <p:nvPr/>
        </p:nvSpPr>
        <p:spPr>
          <a:xfrm>
            <a:off x="8938031" y="2148840"/>
            <a:ext cx="2430703" cy="1508760"/>
          </a:xfrm>
          <a:prstGeom prst="roundRect">
            <a:avLst>
              <a:gd name="adj" fmla="val 10000"/>
            </a:avLst>
          </a:prstGeom>
          <a:solidFill>
            <a:srgbClr val="2A3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39199" y="2350008"/>
            <a:ext cx="2028367" cy="1106424"/>
          </a:xfrm>
          <a:prstGeom prst="rect">
            <a:avLst/>
          </a:prstGeom>
          <a:noFill/>
        </p:spPr>
        <p:txBody>
          <a:bodyPr wrap="square" anchor="t" lIns="0" rIns="0" tIns="0" bIns="0">
            <a:spAutoFit/>
          </a:bodyPr>
          <a:lstStyle/>
          <a:p>
            <a:pPr algn="ctr">
              <a:spcAft>
                <a:spcPts val="400"/>
              </a:spcAft>
            </a:pPr>
            <a:r>
              <a:rPr sz="4000" b="1">
                <a:solidFill>
                  <a:srgbClr val="FFFFFF"/>
                </a:solidFill>
                <a:latin typeface="Poppins"/>
              </a:rPr>
              <a:t>8–11</a:t>
            </a:r>
          </a:p>
          <a:p>
            <a:pPr algn="ctr">
              <a:lnSpc>
                <a:spcPct val="125000"/>
              </a:lnSpc>
            </a:pPr>
            <a:r>
              <a:rPr sz="1500" b="0">
                <a:solidFill>
                  <a:srgbClr val="C6CEE8"/>
                </a:solidFill>
                <a:latin typeface="Nunito"/>
              </a:rPr>
              <a:t>ages</a:t>
            </a:r>
          </a:p>
        </p:txBody>
      </p:sp>
      <p:sp>
        <p:nvSpPr>
          <p:cNvPr id="12" name="TextBox 11"/>
          <p:cNvSpPr txBox="1"/>
          <p:nvPr/>
        </p:nvSpPr>
        <p:spPr>
          <a:xfrm>
            <a:off x="822960" y="3931920"/>
            <a:ext cx="10545775" cy="1097280"/>
          </a:xfrm>
          <a:prstGeom prst="rect">
            <a:avLst/>
          </a:prstGeom>
          <a:noFill/>
        </p:spPr>
        <p:txBody>
          <a:bodyPr wrap="square" anchor="t" lIns="0" rIns="0" tIns="0" bIns="0">
            <a:spAutoFit/>
          </a:bodyPr>
          <a:lstStyle/>
          <a:p>
            <a:pPr algn="l">
              <a:lnSpc>
                <a:spcPct val="145000"/>
              </a:lnSpc>
            </a:pPr>
            <a:r>
              <a:rPr sz="1900" b="0">
                <a:solidFill>
                  <a:srgbClr val="C6CEE8"/>
                </a:solidFill>
                <a:latin typeface="Nunito"/>
              </a:rPr>
              <a:t>Every session ends with something that works. The last one is Demo Day. The kit — micro:bit, battery pack, cable — arrives before the session that needs it, so there is nothing to buy separately.</a:t>
            </a:r>
          </a:p>
        </p:txBody>
      </p:sp>
      <p:sp>
        <p:nvSpPr>
          <p:cNvPr id="13" name="Rounded Rectangle 12"/>
          <p:cNvSpPr/>
          <p:nvPr/>
        </p:nvSpPr>
        <p:spPr>
          <a:xfrm>
            <a:off x="822960" y="5074920"/>
            <a:ext cx="10545775" cy="1097280"/>
          </a:xfrm>
          <a:prstGeom prst="roundRect">
            <a:avLst>
              <a:gd name="adj" fmla="val 10000"/>
            </a:avLst>
          </a:prstGeom>
          <a:solidFill>
            <a:srgbClr val="F59A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188720" y="5394960"/>
            <a:ext cx="9814255" cy="548640"/>
          </a:xfrm>
          <a:prstGeom prst="rect">
            <a:avLst/>
          </a:prstGeom>
          <a:noFill/>
        </p:spPr>
        <p:txBody>
          <a:bodyPr wrap="square" anchor="t" lIns="0" rIns="0" tIns="0" bIns="0">
            <a:spAutoFit/>
          </a:bodyPr>
          <a:lstStyle/>
          <a:p>
            <a:pPr algn="ctr"/>
            <a:r>
              <a:rPr sz="2200" b="1">
                <a:solidFill>
                  <a:srgbClr val="1C2757"/>
                </a:solidFill>
                <a:latin typeface="Poppins"/>
              </a:rPr>
              <a:t>Workshop price [PRICE]     ·     Code [CODE]     ·     Closes [DEADLINE]     ·     Link's in the chat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A29D"/>
        </a:solidFill>
        <a:effectLst/>
      </p:bgPr>
    </p:bg>
    <p:spTree>
      <p:nvGrpSpPr>
        <p:cNvPr id="1" name=""/>
        <p:cNvGrpSpPr/>
        <p:nvPr/>
      </p:nvGrpSpPr>
      <p:grpSpPr/>
      <p:sp>
        <p:nvSpPr>
          <p:cNvPr id="2" name="TextBox 1"/>
          <p:cNvSpPr txBox="1"/>
          <p:nvPr/>
        </p:nvSpPr>
        <p:spPr>
          <a:xfrm>
            <a:off x="822960" y="1005840"/>
            <a:ext cx="10545775" cy="2011680"/>
          </a:xfrm>
          <a:prstGeom prst="rect">
            <a:avLst/>
          </a:prstGeom>
          <a:noFill/>
        </p:spPr>
        <p:txBody>
          <a:bodyPr wrap="square" anchor="t" lIns="0" rIns="0" tIns="0" bIns="0">
            <a:spAutoFit/>
          </a:bodyPr>
          <a:lstStyle/>
          <a:p>
            <a:pPr algn="ctr">
              <a:lnSpc>
                <a:spcPct val="104000"/>
              </a:lnSpc>
            </a:pPr>
            <a:r>
              <a:rPr sz="5600" b="1">
                <a:solidFill>
                  <a:srgbClr val="FFFFFF"/>
                </a:solidFill>
                <a:latin typeface="Poppins"/>
              </a:rPr>
              <a:t>Hold up your bear…
say cheese! 📸</a:t>
            </a:r>
          </a:p>
        </p:txBody>
      </p:sp>
      <p:sp>
        <p:nvSpPr>
          <p:cNvPr id="3" name="Rounded Rectangle 2"/>
          <p:cNvSpPr/>
          <p:nvPr/>
        </p:nvSpPr>
        <p:spPr>
          <a:xfrm>
            <a:off x="5117439" y="3200400"/>
            <a:ext cx="1956816" cy="2299715"/>
          </a:xfrm>
          <a:prstGeom prst="roundRect">
            <a:avLst>
              <a:gd name="adj" fmla="val 12000"/>
            </a:avLst>
          </a:prstGeom>
          <a:solidFill>
            <a:srgbClr val="1616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ounded Rectangle 3"/>
          <p:cNvSpPr/>
          <p:nvPr/>
        </p:nvSpPr>
        <p:spPr>
          <a:xfrm>
            <a:off x="5263743" y="3346704"/>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ounded Rectangle 4"/>
          <p:cNvSpPr/>
          <p:nvPr/>
        </p:nvSpPr>
        <p:spPr>
          <a:xfrm>
            <a:off x="5611215" y="3346704"/>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958687" y="3346704"/>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306159" y="3346704"/>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6653631" y="3346704"/>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ounded Rectangle 8"/>
          <p:cNvSpPr/>
          <p:nvPr/>
        </p:nvSpPr>
        <p:spPr>
          <a:xfrm>
            <a:off x="5263743" y="37627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5611215" y="37627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5958687" y="37627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306159" y="37627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6653631" y="3762756"/>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5263743" y="4178808"/>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611215" y="4178808"/>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5958687" y="4178808"/>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6306159" y="4178808"/>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6653631" y="4178808"/>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5263743" y="4594860"/>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611215" y="4594860"/>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958687" y="4594860"/>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6306159" y="4594860"/>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653631" y="4594860"/>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ounded Rectangle 23"/>
          <p:cNvSpPr/>
          <p:nvPr/>
        </p:nvSpPr>
        <p:spPr>
          <a:xfrm>
            <a:off x="5263743" y="5010912"/>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611215" y="5010912"/>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5958687" y="5010912"/>
            <a:ext cx="274320" cy="342900"/>
          </a:xfrm>
          <a:prstGeom prst="roundRect">
            <a:avLst>
              <a:gd name="adj" fmla="val 22000"/>
            </a:avLst>
          </a:prstGeom>
          <a:solidFill>
            <a:srgbClr val="FF3B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6306159" y="5010912"/>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653631" y="5010912"/>
            <a:ext cx="274320" cy="342900"/>
          </a:xfrm>
          <a:prstGeom prst="roundRect">
            <a:avLst>
              <a:gd name="adj" fmla="val 22000"/>
            </a:avLst>
          </a:prstGeom>
          <a:solidFill>
            <a:srgbClr val="2A2A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22960" y="5852160"/>
            <a:ext cx="10545775" cy="822960"/>
          </a:xfrm>
          <a:prstGeom prst="rect">
            <a:avLst/>
          </a:prstGeom>
          <a:noFill/>
        </p:spPr>
        <p:txBody>
          <a:bodyPr wrap="square" anchor="t" lIns="0" rIns="0" tIns="0" bIns="0">
            <a:spAutoFit/>
          </a:bodyPr>
          <a:lstStyle/>
          <a:p>
            <a:pPr algn="ctr">
              <a:lnSpc>
                <a:spcPct val="115000"/>
              </a:lnSpc>
            </a:pPr>
            <a:r>
              <a:rPr sz="2400" b="1">
                <a:solidFill>
                  <a:srgbClr val="FFFFFF"/>
                </a:solidFill>
                <a:latin typeface="Poppins"/>
              </a:rPr>
              <a:t>Thanks for building with us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