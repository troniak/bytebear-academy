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HOLDING SLIDE - leave this up while children arrive. Music on. Chat moderator greets every early arrival by name.</a:t>
            </a:r>
          </a:p>
          <a:p/>
          <a:p>
            <a:r>
              <a:t>SAY: "In the next 45 minutes you're going to build something that actually lights up and does what YOU tell it to. Not a video. Not a worksheet. A real program. Ready?"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0:00-0:03  WELCOME &amp; HOOK</a:t>
            </a:r>
          </a:p>
          <a:p/>
          <a:p>
            <a:r>
              <a:t>SAY: "First thing - type your first name and your age in the chat. Go."</a:t>
            </a:r>
          </a:p>
          <a:p/>
          <a:p>
            <a:r>
              <a:t>Moderator greets every name as it lands - highest-leverage 30 seconds of their session.</a:t>
            </a:r>
          </a:p>
          <a:p/>
          <a:p>
            <a:r>
              <a:t>WATCH FOR: silent chat at 0:02. Drop to a yes/no prompt - "Type 1 if you can hear me, 2 if it's fuzzy" - which is easier to answer than a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0:03-0:09  MEET YOUR MICRO-COMPUTER</a:t>
            </a:r>
          </a:p>
          <a:p/>
          <a:p>
            <a:r>
              <a:t>Hold the physical micro:bit v2 up to camera - close enough to see the LED grid and both buttons.</a:t>
            </a:r>
          </a:p>
          <a:p/>
          <a:p>
            <a:r>
              <a:t>SAY: "This is a micro:bit. It's smaller than a credit card, it costs less than a pizza, and it can see, hear and feel things. It's basically a robot brain."</a:t>
            </a:r>
          </a:p>
          <a:p/>
          <a:p>
            <a:r>
              <a:t>SAY: "Type in the chat - what do you think this thing can sense? Guess anything."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0:03-0:09  Reveal 1 of 5 - Light.</a:t>
            </a:r>
          </a:p>
          <a:p/>
          <a:p>
            <a:r>
              <a:t>Prove it live on camera: Cup your hand over the board.</a:t>
            </a:r>
          </a:p>
          <a:p/>
          <a:p>
            <a:r>
              <a:t>Advance one sense at a time as children guess them. React to every correct guess.</a:t>
            </a:r>
          </a:p>
          <a:p/>
          <a:p>
            <a:r>
              <a:t>WATCH FOR: do not let this segment run past 0:09. It overruns more than any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0:03-0:09  Reveal 2 of 5 - Sound.</a:t>
            </a:r>
          </a:p>
          <a:p/>
          <a:p>
            <a:r>
              <a:t>Prove it live on camera: Clap once.</a:t>
            </a:r>
          </a:p>
          <a:p/>
          <a:p>
            <a:r>
              <a:t>Advance one sense at a time as children guess them. React to every correct guess.</a:t>
            </a:r>
          </a:p>
          <a:p/>
          <a:p>
            <a:r>
              <a:t>WATCH FOR: do not let this segment run past 0:09. It overruns more than any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0:03-0:09  Reveal 3 of 5 - Motion.</a:t>
            </a:r>
          </a:p>
          <a:p/>
          <a:p>
            <a:r>
              <a:t>Prove it live on camera: Shake it.</a:t>
            </a:r>
          </a:p>
          <a:p/>
          <a:p>
            <a:r>
              <a:t>Advance one sense at a time as children guess them. React to every correct guess.</a:t>
            </a:r>
          </a:p>
          <a:p/>
          <a:p>
            <a:r>
              <a:t>WATCH FOR: do not let this segment run past 0:09. It overruns more than any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0:03-0:09  Reveal 4 of 5 - Touch.</a:t>
            </a:r>
          </a:p>
          <a:p/>
          <a:p>
            <a:r>
              <a:t>Prove it live on camera: Touch the gold logo.</a:t>
            </a:r>
          </a:p>
          <a:p/>
          <a:p>
            <a:r>
              <a:t>Advance one sense at a time as children guess them. React to every correct guess.</a:t>
            </a:r>
          </a:p>
          <a:p/>
          <a:p>
            <a:r>
              <a:t>WATCH FOR: do not let this segment run past 0:09. It overruns more than any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0:03-0:09  Reveal 5 of 5 - Temperature.</a:t>
            </a:r>
          </a:p>
          <a:p/>
          <a:p>
            <a:r>
              <a:t>Prove it live on camera: Hold it in a closed fist.</a:t>
            </a:r>
          </a:p>
          <a:p/>
          <a:p>
            <a:r>
              <a:t>Advance one sense at a time as children guess them. React to every correct guess.</a:t>
            </a:r>
          </a:p>
          <a:p/>
          <a:p>
            <a:r>
              <a:t>WATCH FOR: do not let this segment run past 0:09. It overruns more than any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0:03-0:09  THE PIVOT. Say it exactly - this is the hinge into the build.</a:t>
            </a:r>
          </a:p>
          <a:p/>
          <a:p>
            <a:r>
              <a:t>SAY: "Here's the thing though - it does absolutely nothing until somebody tells it what to do. That somebody is about to be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0:09-0:21  LIVE CODE-ALONG opens here.</a:t>
            </a:r>
          </a:p>
          <a:p/>
          <a:p>
            <a:r>
              <a:t>Moderator posts snippet C1 now, and re-posts every 2 minutes for late joiners.</a:t>
            </a:r>
          </a:p>
          <a:p/>
          <a:p>
            <a:r>
              <a:t>Share your screen with browser zoom at 125-150% - default block size is unreadable on a phone or a split screen.</a:t>
            </a:r>
          </a:p>
          <a:p/>
          <a:p>
            <a:r>
              <a:t>WATCH FOR: wait for the "1"s. Do not talk over this. A child who falls behind here is lost for the whole build.</a:t>
            </a:r>
          </a:p>
          <a:p/>
          <a:p>
            <a:r>
              <a:t>If someone 'loses' their project by refreshing: MakeCode auto-saves, it's on the home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0:09-0:21  Block 1 of 4.</a:t>
            </a:r>
          </a:p>
          <a:p/>
          <a:p>
            <a:r>
              <a:t>After this one: "That's a program. You've written a program. It's been ninety seconds."</a:t>
            </a:r>
          </a:p>
          <a:p/>
          <a:p>
            <a:r>
              <a:t>v2 note: 'on logo pressed' and 'play sound' are micro:bit v2 features. The simulator defaults to v2 - do not switch it to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0:09-0:21  Block 2 of 4.</a:t>
            </a:r>
          </a:p>
          <a:p/>
          <a:p>
            <a:r>
              <a:t>Change the string to THEIR initial, not yours. And: "click the A button on the simulator, not on your keyboard."</a:t>
            </a:r>
          </a:p>
          <a:p/>
          <a:p>
            <a:r>
              <a:t>v2 note: 'on logo pressed' and 'play sound' are micro:bit v2 features. The simulator defaults to v2 - do not switch it to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0:09-0:21  Block 3 of 4.</a:t>
            </a:r>
          </a:p>
          <a:p/>
          <a:p>
            <a:r>
              <a:t>Remind everyone to turn their own device volume up - silence reads as a bug to an 8-year-old.</a:t>
            </a:r>
          </a:p>
          <a:p/>
          <a:p>
            <a:r>
              <a:t>v2 note: 'on logo pressed' and 'play sound' are micro:bit v2 features. The simulator defaults to v2 - do not switch it to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0:09-0:21  Block 4 of 4.</a:t>
            </a:r>
          </a:p>
          <a:p/>
          <a:p>
            <a:r>
              <a:t>Name the difference out loud: show string SCROLLS, show icon HOLDS.</a:t>
            </a:r>
          </a:p>
          <a:p/>
          <a:p>
            <a:r>
              <a:t>v2 note: 'on logo pressed' and 'play sound' are micro:bit v2 features. The simulator defaults to v2 - do not switch it to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0:09-0:21  THE DELIBERATE MISTAKE, around 0:15.</a:t>
            </a:r>
          </a:p>
          <a:p/>
          <a:p>
            <a:r>
              <a:t>Drop 'play sound' into 'on start' instead of 'on button B pressed'. Run it. The sound fires at launch and button B does nothing.</a:t>
            </a:r>
          </a:p>
          <a:p/>
          <a:p>
            <a:r>
              <a:t>SAY: "Hang on. I pressed B and nothing happened. But the sound definitely played... it played when the program started. So the block isn't broken - I put it in the wrong container. The computer did exactly what I told it, not what I meant."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0:09-0:21  THE DELIBERATE MISTAKE, around 0:15.</a:t>
            </a:r>
          </a:p>
          <a:p/>
          <a:p>
            <a:r>
              <a:t>Drop 'play sound' into 'on start' instead of 'on button B pressed'. Run it. The sound fires at launch and button B does nothing.</a:t>
            </a:r>
          </a:p>
          <a:p/>
          <a:p>
            <a:r>
              <a:t>SAY: "Hang on. I pressed B and nothing happened. But the sound definitely played... it played when the program started. So the block isn't broken - I put it in the wrong container. The computer did exactly what I told it, not what I meant."</a:t>
            </a:r>
          </a:p>
          <a:p/>
          <a:p>
            <a:r>
              <a:t>Now drag it across, re-run, celebrate.</a:t>
            </a:r>
          </a:p>
          <a:p/>
          <a:p>
            <a:r>
              <a:t>SAY: "See, even I mess this up. That's called debugging, and it's honestly half of what we do together in the real class."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0:21-0:31  INDEPENDENT WORK - ten minutes.</a:t>
            </a:r>
          </a:p>
          <a:p/>
          <a:p>
            <a:r>
              <a:t>SAY: "Green is the goal. Yellow is if you finish green. Red is if you want me to be impressed. You do not have to reach red - red is what Session 2 of the real class looks like."</a:t>
            </a:r>
          </a:p>
          <a:p/>
          <a:p>
            <a:r>
              <a:t>START THE TIMER. Google Slides has no built-in countdown: run a timer app on your second screen, or insert a 10-minute countdown video onto this slide after upload.</a:t>
            </a:r>
          </a:p>
          <a:p/>
          <a:p>
            <a:r>
              <a:t>Both host and moderator work the chat for the full ten minutes. Answer with a question first: "What did you expect it to do, and what did it do?"</a:t>
            </a:r>
          </a:p>
          <a:p/>
          <a:p>
            <a:r>
              <a:t>PICK YOUR SHOW &amp; TELL PRESENTERS NOW and DM them - a Core finisher, a Stretch finisher, and one visible bug-fixer. Screenshot their work as insurance.</a:t>
            </a:r>
          </a:p>
          <a:p/>
          <a:p>
            <a:r>
              <a:t>Call the clock at 0:26, 0:29 and 0:30.</a:t>
            </a:r>
          </a:p>
          <a:p/>
          <a:p>
            <a:r>
              <a:t>WATCH FOR: a silent child by 0:24 - moderator DMs directly. Usually a blank project or the simulator scrolled off screen.</a:t>
            </a:r>
          </a:p>
          <a:p>
            <a:r>
              <a:t>WATCH FOR: Boss-tier classic - three 'show leds' with no 'pause', so only the last shows. Let them hit it, then ask what's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0:31-0:38  SHOW &amp; TELL. 3-4 children, ~90 seconds each. Ask these two questions only, then give a SPECIFIC callout - never a generic "great job".</a:t>
            </a:r>
          </a:p>
          <a:p/>
          <a:p>
            <a:r>
              <a:t>EXAMPLE: "I love that you made it flash before the name scrolls - that's a timing decision, and you made it on purpose."</a:t>
            </a:r>
          </a:p>
          <a:p/>
          <a:p>
            <a:r>
              <a:t>WATCH FOR: never put a child on the spot live - presenters were DM'd during the previous segment. Do not ask children to generate a MakeCode public share link.</a:t>
            </a:r>
          </a:p>
          <a:p/>
          <a:p>
            <a:r>
              <a:t>If nobody volunteers: present two children's work yourself, with credit, from the screenshots the moderator grabbed.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0:31-0:38  SHOUTOUTS. Announce these as descriptions, not rankings. Every one to a different child. Keep them non-competitive.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0:38-0:44  SNEAK PEEK - play the 60-90 second Session 6 clip here.</a:t>
            </a:r>
          </a:p>
          <a:p/>
          <a:p>
            <a:r>
              <a:t>Replace this placeholder box with the clip after uploading to Google Slides (Insert &gt; Video), or play it from a separate tab and share that tab WITH AUDIO.</a:t>
            </a:r>
          </a:p>
          <a:p/>
          <a:p>
            <a:r>
              <a:t>Real footage of real children beats a live demo; a live demo beats nothing.</a:t>
            </a:r>
          </a:p>
          <a:p/>
          <a:p>
            <a:r>
              <a:t>WATCH FOR: if it won't play, demo the gesture remote on the physical board or narrate it. Never burn 90 seconds troubleshooting a video.</a:t>
            </a:r>
          </a:p>
          <a:p/>
          <a:p>
            <a:r>
              <a:t>NO prices, no dates, no urgency in this segment. The gap between the demo and the offer is what makes the offer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0:38-0:44  THE CEILING.</a:t>
            </a:r>
          </a:p>
          <a:p/>
          <a:p>
            <a:r>
              <a:t>SAY: "That badge you just made? By Session 6 you're training the micro:bit to recognise your movements. And by Session 8, pods of four kids in four different houses are running one system together - each child programs one part, they agree on the messages the parts send each other, and they demo the whole thing live. Four houses, one machine."</a:t>
            </a:r>
          </a:p>
          <a:p/>
          <a:p>
            <a:r>
              <a:t>Then bring it back: "Everything in that clip is built on exactly what you did in the last half hour - an event, a block inside it, and a bug you fixed."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0:44-0:49  THE OFFER.</a:t>
            </a:r>
          </a:p>
          <a:p/>
          <a:p>
            <a:r>
              <a:t>Say the audience shift out loud: "This next bit is for the grown-ups; kids, you can keep tinkering."</a:t>
            </a:r>
          </a:p>
          <a:p/>
          <a:p>
            <a:r>
              <a:t>ONE BREATH: "What we just did is the taster. The full thing is Maker Level: eight live sessions, small pods of four children, and one simple kit shipped to your door - a micro:bit, a battery pack and a cable, nothing to buy separately. Ages 8 to 11. Every session ends with something that works, and the last one is Demo Day."</a:t>
            </a:r>
          </a:p>
          <a:p/>
          <a:p>
            <a:r>
              <a:t>Hold the price back until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0:44-0:49  THE OFFER.</a:t>
            </a:r>
          </a:p>
          <a:p/>
          <a:p>
            <a:r>
              <a:t>Say the audience shift out loud: "This next bit is for the grown-ups; kids, you can keep tinkering."</a:t>
            </a:r>
          </a:p>
          <a:p/>
          <a:p>
            <a:r>
              <a:t>ONE BREATH: "What we just did is the taster. The full thing is Maker Level: eight live sessions, small pods of four children, and one simple kit shipped to your door - a micro:bit, a battery pack and a cable, nothing to buy separately. Ages 8 to 11. Every session ends with something that works, and the last one is Demo Day."</a:t>
            </a:r>
          </a:p>
          <a:p/>
          <a:p>
            <a:r>
              <a:t>STATE IT ONCE, then stop: "For families on this workshop only, it's [PRICE] with the code [CODE], and that closes [DEADLINE]. The link is in the chat."</a:t>
            </a:r>
          </a:p>
          <a:p/>
          <a:p>
            <a:r>
              <a:t>Moderator posts C4 the moment you say "the link is in the chat" - not before, not 30 seconds later.</a:t>
            </a:r>
          </a:p>
          <a:p/>
          <a:p>
            <a:r>
              <a:t>Then take parent questions. The three that always come: does my child need the hardware (no), what if they miss a session (recorded, and caught up at the start of the next), too advanced or too easy (Core / Stretch / Boss every week).</a:t>
            </a:r>
          </a:p>
          <a:p/>
          <a:p>
            <a:r>
              <a:t>WATCH FOR: do not re-explain the offer, extend the deadline live, or answer a pricing question with a discount.</a:t>
            </a:r>
          </a:p>
          <a:p/>
          <a:p>
            <a:r>
              <a:t>FILL IN [PRICE], [CODE] and [DEADLINE] BEFORE THE FIRST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0:49-0:50  SEND-OFF.</a:t>
            </a:r>
          </a:p>
          <a:p/>
          <a:p>
            <a:r>
              <a:t>SAY: "Last thing - everyone hold up your screen with your badge on it. Ready? Say cheese!"</a:t>
            </a:r>
          </a:p>
          <a:p/>
          <a:p>
            <a:r>
              <a:t>Screenshot the gallery. Consent is already on file from the booking form; crop any declining family before the image is used anywhere. Thank families by name.</a:t>
            </a:r>
          </a:p>
          <a:p/>
          <a:p>
            <a:r>
              <a:t>END ON TIME. A workshop that runs to 0:57 teaches parents that your sessions overrun.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59A23"/>
                </a:solidFill>
                <a:latin typeface="Poppins"/>
              </a:rPr>
              <a:t>BYTEBEAR ACADEMY  ·  FREE MICRO:BIT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7600" b="1">
                <a:solidFill>
                  <a:srgbClr val="FFFFFF"/>
                </a:solidFill>
                <a:latin typeface="Poppins"/>
              </a:rPr>
              <a:t>Build Your Badge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D7DCEF"/>
                </a:solidFill>
                <a:latin typeface="Nunito"/>
              </a:rPr>
              <a:t>In the next 45 minutes you'll write a real program that lights up,
scrolls your name and makes a noise.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17439" y="3657600"/>
            <a:ext cx="1956816" cy="2299715"/>
          </a:xfrm>
          <a:prstGeom prst="roundRect">
            <a:avLst>
              <a:gd name="adj" fmla="val 12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63743" y="3803904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11215" y="3803904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58687" y="3803904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6159" y="3803904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53631" y="3803904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63743" y="4219956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1215" y="4219956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58687" y="4219956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6159" y="4219956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53631" y="4219956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63743" y="4636008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11215" y="4636008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58687" y="4636008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6159" y="4636008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53631" y="4636008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63743" y="5052060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11215" y="5052060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58687" y="5052060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6159" y="5052060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53631" y="5052060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63743" y="5468112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11215" y="5468112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58687" y="5468112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6159" y="5468112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3631" y="5468112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1722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AA4C8"/>
                </a:solidFill>
                <a:latin typeface="Nunito"/>
              </a:rPr>
              <a:t>Ages 8–11   ·   Nothing to download   ·   Nothing to buy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D8783"/>
                </a:solidFill>
                <a:latin typeface="Poppins"/>
              </a:rPr>
              <a:t>FIRST THINGS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6000" b="1">
                <a:solidFill>
                  <a:srgbClr val="1C2757"/>
                </a:solidFill>
                <a:latin typeface="Poppins"/>
              </a:rPr>
              <a:t>Type your name
and your age
in the chat  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7431F0"/>
                </a:solidFill>
                <a:latin typeface="Poppins"/>
              </a:rPr>
              <a:t>Go on — right now. We'll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A29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BFE8E6"/>
                </a:solidFill>
                <a:latin typeface="Poppins"/>
              </a:rPr>
              <a:t>MEET YOUR MICRO-COMPUTER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4577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6400" b="1">
                <a:solidFill>
                  <a:srgbClr val="FFFFFF"/>
                </a:solidFill>
                <a:latin typeface="Poppins"/>
              </a:rPr>
              <a:t>What do you think
this can sense?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E4F5F4"/>
                </a:solidFill>
                <a:latin typeface="Nunito"/>
              </a:rPr>
              <a:t>Smaller than a credit card. Cheaper than a pizza.
Basically a robot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oppins"/>
              </a:rPr>
              <a:t>Guess in the chat — anything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IT CAN SENSE FIVE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E5E8F4"/>
                </a:solidFill>
                <a:latin typeface="Poppins"/>
              </a:rPr>
              <a:t>1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4855464"/>
            <a:ext cx="1926275" cy="128016"/>
          </a:xfrm>
          <a:prstGeom prst="rect">
            <a:avLst/>
          </a:prstGeom>
          <a:solidFill>
            <a:srgbClr val="F59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💡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Light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How bright
the room 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7835" y="2331720"/>
            <a:ext cx="1926275" cy="265176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7835" y="3429000"/>
            <a:ext cx="19262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5E8F4"/>
                </a:solidFill>
                <a:latin typeface="Poppin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2710" y="2331720"/>
            <a:ext cx="1926275" cy="265176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2710" y="3429000"/>
            <a:ext cx="19262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5E8F4"/>
                </a:solidFill>
                <a:latin typeface="Poppins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87585" y="2331720"/>
            <a:ext cx="1926275" cy="265176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585" y="3429000"/>
            <a:ext cx="19262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5E8F4"/>
                </a:solidFill>
                <a:latin typeface="Poppins"/>
              </a:rPr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42460" y="2331720"/>
            <a:ext cx="1926275" cy="265176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2460" y="3429000"/>
            <a:ext cx="19262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5E8F4"/>
                </a:solidFill>
                <a:latin typeface="Poppins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IT CAN SENSE FIVE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E5E8F4"/>
                </a:solidFill>
                <a:latin typeface="Poppins"/>
              </a:rPr>
              <a:t>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4855464"/>
            <a:ext cx="1926275" cy="128016"/>
          </a:xfrm>
          <a:prstGeom prst="rect">
            <a:avLst/>
          </a:prstGeom>
          <a:solidFill>
            <a:srgbClr val="F59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💡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Light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How bright
the room 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7835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7835" y="4855464"/>
            <a:ext cx="1926275" cy="128016"/>
          </a:xfrm>
          <a:prstGeom prst="rect">
            <a:avLst/>
          </a:prstGeom>
          <a:solidFill>
            <a:srgbClr val="12A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0443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👂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Sound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It hears
you clap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2710" y="2331720"/>
            <a:ext cx="1926275" cy="265176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2710" y="3429000"/>
            <a:ext cx="19262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5E8F4"/>
                </a:solidFill>
                <a:latin typeface="Poppins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585" y="2331720"/>
            <a:ext cx="1926275" cy="265176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585" y="3429000"/>
            <a:ext cx="19262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5E8F4"/>
                </a:solidFill>
                <a:latin typeface="Poppin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42460" y="2331720"/>
            <a:ext cx="1926275" cy="265176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2460" y="3429000"/>
            <a:ext cx="19262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5E8F4"/>
                </a:solidFill>
                <a:latin typeface="Poppins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IT CAN SENSE FIVE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E5E8F4"/>
                </a:solidFill>
                <a:latin typeface="Poppins"/>
              </a:rPr>
              <a:t>3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4855464"/>
            <a:ext cx="1926275" cy="128016"/>
          </a:xfrm>
          <a:prstGeom prst="rect">
            <a:avLst/>
          </a:prstGeom>
          <a:solidFill>
            <a:srgbClr val="F59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💡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Light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How bright
the room 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7835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7835" y="4855464"/>
            <a:ext cx="1926275" cy="128016"/>
          </a:xfrm>
          <a:prstGeom prst="rect">
            <a:avLst/>
          </a:prstGeom>
          <a:solidFill>
            <a:srgbClr val="12A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0443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👂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Sound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It hears
you clap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2710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2710" y="4855464"/>
            <a:ext cx="1926275" cy="128016"/>
          </a:xfrm>
          <a:prstGeom prst="rect">
            <a:avLst/>
          </a:prstGeom>
          <a:solidFill>
            <a:srgbClr val="743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5318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🤸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Motion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Tilt, shake,
drop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585" y="2331720"/>
            <a:ext cx="1926275" cy="265176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585" y="3429000"/>
            <a:ext cx="19262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5E8F4"/>
                </a:solidFill>
                <a:latin typeface="Poppins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42460" y="2331720"/>
            <a:ext cx="1926275" cy="265176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2460" y="3429000"/>
            <a:ext cx="19262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5E8F4"/>
                </a:solidFill>
                <a:latin typeface="Poppins"/>
              </a:rPr>
              <a:t>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IT CAN SENSE FIVE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E5E8F4"/>
                </a:solidFill>
                <a:latin typeface="Poppins"/>
              </a:rPr>
              <a:t>4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4855464"/>
            <a:ext cx="1926275" cy="128016"/>
          </a:xfrm>
          <a:prstGeom prst="rect">
            <a:avLst/>
          </a:prstGeom>
          <a:solidFill>
            <a:srgbClr val="F59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💡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Light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How bright
the room 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7835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7835" y="4855464"/>
            <a:ext cx="1926275" cy="128016"/>
          </a:xfrm>
          <a:prstGeom prst="rect">
            <a:avLst/>
          </a:prstGeom>
          <a:solidFill>
            <a:srgbClr val="12A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0443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👂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Sound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It hears
you clap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2710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2710" y="4855464"/>
            <a:ext cx="1926275" cy="128016"/>
          </a:xfrm>
          <a:prstGeom prst="rect">
            <a:avLst/>
          </a:prstGeom>
          <a:solidFill>
            <a:srgbClr val="743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5318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🤸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Motion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Tilt, shake,
drop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585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87585" y="4855464"/>
            <a:ext cx="1926275" cy="128016"/>
          </a:xfrm>
          <a:prstGeom prst="rect">
            <a:avLst/>
          </a:prstGeom>
          <a:solidFill>
            <a:srgbClr val="F25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0193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👆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Touch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The gold logo
on 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2460" y="2331720"/>
            <a:ext cx="1926275" cy="265176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2460" y="3429000"/>
            <a:ext cx="19262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5E8F4"/>
                </a:solidFill>
                <a:latin typeface="Poppins"/>
              </a:rPr>
              <a:t>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IT CAN SENSE FIVE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0D8783"/>
                </a:solidFill>
                <a:latin typeface="Poppins"/>
              </a:rPr>
              <a:t>5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4855464"/>
            <a:ext cx="1926275" cy="128016"/>
          </a:xfrm>
          <a:prstGeom prst="rect">
            <a:avLst/>
          </a:prstGeom>
          <a:solidFill>
            <a:srgbClr val="F59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💡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Light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How bright
the room 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7835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7835" y="4855464"/>
            <a:ext cx="1926275" cy="128016"/>
          </a:xfrm>
          <a:prstGeom prst="rect">
            <a:avLst/>
          </a:prstGeom>
          <a:solidFill>
            <a:srgbClr val="12A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0443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👂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Sound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It hears
you clap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2710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2710" y="4855464"/>
            <a:ext cx="1926275" cy="128016"/>
          </a:xfrm>
          <a:prstGeom prst="rect">
            <a:avLst/>
          </a:prstGeom>
          <a:solidFill>
            <a:srgbClr val="743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5318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🤸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Motion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Tilt, shake,
drop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585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87585" y="4855464"/>
            <a:ext cx="1926275" cy="128016"/>
          </a:xfrm>
          <a:prstGeom prst="rect">
            <a:avLst/>
          </a:prstGeom>
          <a:solidFill>
            <a:srgbClr val="F25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0193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👆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Touch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The gold logo
on 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2460" y="2331720"/>
            <a:ext cx="1926275" cy="2651760"/>
          </a:xfrm>
          <a:prstGeom prst="roundRect">
            <a:avLst>
              <a:gd name="adj" fmla="val 10000"/>
            </a:avLst>
          </a:prstGeom>
          <a:solidFill>
            <a:srgbClr val="F5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42460" y="4855464"/>
            <a:ext cx="1926275" cy="128016"/>
          </a:xfrm>
          <a:prstGeom prst="rect">
            <a:avLst/>
          </a:prstGeom>
          <a:solidFill>
            <a:srgbClr val="3B6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5068" y="2624327"/>
            <a:ext cx="1341059" cy="2066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>
                <a:solidFill>
                  <a:srgbClr val="57628C"/>
                </a:solidFill>
                <a:latin typeface="Nunito"/>
              </a:rPr>
              <a:t>🌡️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C2757"/>
                </a:solidFill>
                <a:latin typeface="Poppins"/>
              </a:rPr>
              <a:t>Temperature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7628C"/>
                </a:solidFill>
                <a:latin typeface="Nunito"/>
              </a:rPr>
              <a:t>How warm
it 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457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5200" b="1">
                <a:solidFill>
                  <a:srgbClr val="FFFFFF"/>
                </a:solidFill>
                <a:latin typeface="Poppins"/>
              </a:rPr>
              <a:t>But it does
absolutely nothing
until somebody tells it
what to 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12064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59A23"/>
                </a:solidFill>
                <a:latin typeface="Poppins"/>
              </a:rPr>
              <a:t>That somebody is about to be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D8783"/>
                </a:solidFill>
                <a:latin typeface="Poppins"/>
              </a:rPr>
              <a:t>EVERYBODY, RIGHT NOW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46807" y="1463040"/>
            <a:ext cx="7498079" cy="1188720"/>
          </a:xfrm>
          <a:prstGeom prst="roundRect">
            <a:avLst>
              <a:gd name="adj" fmla="val 14000"/>
            </a:avLst>
          </a:prstGeom>
          <a:solidFill>
            <a:srgbClr val="E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C2757"/>
                </a:solidFill>
                <a:latin typeface="Poppins"/>
              </a:rPr>
              <a:t>makecode.microbit.org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0632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43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316382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>
                <a:solidFill>
                  <a:srgbClr val="57628C"/>
                </a:solidFill>
                <a:latin typeface="Nunito"/>
              </a:rPr>
              <a:t>Open that link — no login, no download.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8404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43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394106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>
                <a:solidFill>
                  <a:srgbClr val="57628C"/>
                </a:solidFill>
                <a:latin typeface="Nunito"/>
              </a:rPr>
              <a:t>Click New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6177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743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471830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>
                <a:solidFill>
                  <a:srgbClr val="57628C"/>
                </a:solidFill>
                <a:latin typeface="Nunito"/>
              </a:rPr>
              <a:t>Call it “My Badge” and hit Create.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D8783"/>
                </a:solidFill>
                <a:latin typeface="Poppins"/>
              </a:rPr>
              <a:t>Type 1 in the chat when you can see the yellow “on start” block.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YOUR BADGE  ·  FOUR BLOCKS, IN THIS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1C2757"/>
                </a:solidFill>
                <a:latin typeface="Poppins"/>
              </a:rPr>
              <a:t>Block 1 of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4952847" cy="1417320"/>
          </a:xfrm>
          <a:prstGeom prst="roundRect">
            <a:avLst>
              <a:gd name="adj" fmla="val 10000"/>
            </a:avLst>
          </a:prstGeom>
          <a:solidFill>
            <a:srgbClr val="1E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3856" y="2807208"/>
            <a:ext cx="4331055" cy="658368"/>
          </a:xfrm>
          <a:prstGeom prst="roundRect">
            <a:avLst>
              <a:gd name="adj" fmla="val 12000"/>
            </a:avLst>
          </a:prstGeom>
          <a:solidFill>
            <a:srgbClr val="137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show icon  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2160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7628C"/>
                </a:solidFill>
                <a:latin typeface="Nunito"/>
              </a:rPr>
              <a:t>The face appears the moment it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5887" y="2240280"/>
            <a:ext cx="4952847" cy="141732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389120"/>
            <a:ext cx="4952847" cy="141732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5887" y="4389120"/>
            <a:ext cx="4952847" cy="141732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YOUR BADGE  ·  FOUR BLOCKS, IN THIS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1C2757"/>
                </a:solidFill>
                <a:latin typeface="Poppins"/>
              </a:rPr>
              <a:t>Block 2 of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4952847" cy="1417320"/>
          </a:xfrm>
          <a:prstGeom prst="roundRect">
            <a:avLst>
              <a:gd name="adj" fmla="val 10000"/>
            </a:avLst>
          </a:prstGeom>
          <a:solidFill>
            <a:srgbClr val="1E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3856" y="2807208"/>
            <a:ext cx="4331055" cy="658368"/>
          </a:xfrm>
          <a:prstGeom prst="roundRect">
            <a:avLst>
              <a:gd name="adj" fmla="val 12000"/>
            </a:avLst>
          </a:prstGeom>
          <a:solidFill>
            <a:srgbClr val="137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show icon  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2160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7628C"/>
                </a:solidFill>
                <a:latin typeface="Nunito"/>
              </a:rPr>
              <a:t>The face appears the moment it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5887" y="2240280"/>
            <a:ext cx="4952847" cy="1417320"/>
          </a:xfrm>
          <a:prstGeom prst="roundRect">
            <a:avLst>
              <a:gd name="adj" fmla="val 10000"/>
            </a:avLst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button A pressed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6783" y="2807208"/>
            <a:ext cx="4331055" cy="658368"/>
          </a:xfrm>
          <a:prstGeom prst="roundRect">
            <a:avLst>
              <a:gd name="adj" fmla="val 12000"/>
            </a:avLst>
          </a:prstGeom>
          <a:solidFill>
            <a:srgbClr val="8A0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show string  “D”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372160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7628C"/>
                </a:solidFill>
                <a:latin typeface="Nunito"/>
              </a:rPr>
              <a:t>Your initial scrolls across.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4952847" cy="141732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5887" y="4389120"/>
            <a:ext cx="4952847" cy="141732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YOUR BADGE  ·  FOUR BLOCKS, IN THIS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1C2757"/>
                </a:solidFill>
                <a:latin typeface="Poppins"/>
              </a:rPr>
              <a:t>Block 3 of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4952847" cy="1417320"/>
          </a:xfrm>
          <a:prstGeom prst="roundRect">
            <a:avLst>
              <a:gd name="adj" fmla="val 10000"/>
            </a:avLst>
          </a:prstGeom>
          <a:solidFill>
            <a:srgbClr val="1E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3856" y="2807208"/>
            <a:ext cx="4331055" cy="658368"/>
          </a:xfrm>
          <a:prstGeom prst="roundRect">
            <a:avLst>
              <a:gd name="adj" fmla="val 12000"/>
            </a:avLst>
          </a:prstGeom>
          <a:solidFill>
            <a:srgbClr val="137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show icon  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2160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7628C"/>
                </a:solidFill>
                <a:latin typeface="Nunito"/>
              </a:rPr>
              <a:t>The face appears the moment it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5887" y="2240280"/>
            <a:ext cx="4952847" cy="1417320"/>
          </a:xfrm>
          <a:prstGeom prst="roundRect">
            <a:avLst>
              <a:gd name="adj" fmla="val 10000"/>
            </a:avLst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button A pressed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6783" y="2807208"/>
            <a:ext cx="4331055" cy="658368"/>
          </a:xfrm>
          <a:prstGeom prst="roundRect">
            <a:avLst>
              <a:gd name="adj" fmla="val 12000"/>
            </a:avLst>
          </a:prstGeom>
          <a:solidFill>
            <a:srgbClr val="8A0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show string  “D”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372160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7628C"/>
                </a:solidFill>
                <a:latin typeface="Nunito"/>
              </a:rPr>
              <a:t>Your initial scrolls across.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4952847" cy="1417320"/>
          </a:xfrm>
          <a:prstGeom prst="roundRect">
            <a:avLst>
              <a:gd name="adj" fmla="val 10000"/>
            </a:avLst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button B pressed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856" y="4956048"/>
            <a:ext cx="4331055" cy="658368"/>
          </a:xfrm>
          <a:prstGeom prst="roundRect">
            <a:avLst>
              <a:gd name="adj" fmla="val 12000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play sound  giggle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7044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7628C"/>
                </a:solidFill>
                <a:latin typeface="Nunito"/>
              </a:rPr>
              <a:t>A sound, on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5887" y="4389120"/>
            <a:ext cx="4952847" cy="141732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E5E8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YOUR BADGE  ·  FOUR BLOCKS, IN THIS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5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1C2757"/>
                </a:solidFill>
                <a:latin typeface="Poppins"/>
              </a:rPr>
              <a:t>Block 4 of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4952847" cy="1417320"/>
          </a:xfrm>
          <a:prstGeom prst="roundRect">
            <a:avLst>
              <a:gd name="adj" fmla="val 10000"/>
            </a:avLst>
          </a:prstGeom>
          <a:solidFill>
            <a:srgbClr val="1E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3856" y="2807208"/>
            <a:ext cx="4331055" cy="658368"/>
          </a:xfrm>
          <a:prstGeom prst="roundRect">
            <a:avLst>
              <a:gd name="adj" fmla="val 12000"/>
            </a:avLst>
          </a:prstGeom>
          <a:solidFill>
            <a:srgbClr val="137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show icon  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2160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7628C"/>
                </a:solidFill>
                <a:latin typeface="Nunito"/>
              </a:rPr>
              <a:t>The face appears the moment it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5887" y="2240280"/>
            <a:ext cx="4952847" cy="1417320"/>
          </a:xfrm>
          <a:prstGeom prst="roundRect">
            <a:avLst>
              <a:gd name="adj" fmla="val 10000"/>
            </a:avLst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button A pressed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6783" y="2807208"/>
            <a:ext cx="4331055" cy="658368"/>
          </a:xfrm>
          <a:prstGeom prst="roundRect">
            <a:avLst>
              <a:gd name="adj" fmla="val 12000"/>
            </a:avLst>
          </a:prstGeom>
          <a:solidFill>
            <a:srgbClr val="8A0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show string  “D”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372160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7628C"/>
                </a:solidFill>
                <a:latin typeface="Nunito"/>
              </a:rPr>
              <a:t>Your initial scrolls across.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4952847" cy="1417320"/>
          </a:xfrm>
          <a:prstGeom prst="roundRect">
            <a:avLst>
              <a:gd name="adj" fmla="val 10000"/>
            </a:avLst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button B pressed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856" y="4956048"/>
            <a:ext cx="4331055" cy="658368"/>
          </a:xfrm>
          <a:prstGeom prst="roundRect">
            <a:avLst>
              <a:gd name="adj" fmla="val 12000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play sound  giggle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7044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7628C"/>
                </a:solidFill>
                <a:latin typeface="Nunito"/>
              </a:rPr>
              <a:t>A sound, on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5887" y="4389120"/>
            <a:ext cx="4952847" cy="1417320"/>
          </a:xfrm>
          <a:prstGeom prst="roundRect">
            <a:avLst>
              <a:gd name="adj" fmla="val 10000"/>
            </a:avLst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logo pressed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6783" y="4956048"/>
            <a:ext cx="4331055" cy="658368"/>
          </a:xfrm>
          <a:prstGeom prst="roundRect">
            <a:avLst>
              <a:gd name="adj" fmla="val 12000"/>
            </a:avLst>
          </a:prstGeom>
          <a:solidFill>
            <a:srgbClr val="8A0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show icon  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587044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7628C"/>
                </a:solidFill>
                <a:latin typeface="Nunito"/>
              </a:rPr>
              <a:t>Touch the gold logo — same as the real 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5C78"/>
                </a:solidFill>
                <a:latin typeface="Poppins"/>
              </a:rPr>
              <a:t>I PRESSED B AND NOTHING HAPPENED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1C2757"/>
                </a:solidFill>
                <a:latin typeface="Poppins"/>
              </a:rPr>
              <a:t>The block wasn't broken.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7628C"/>
                </a:solidFill>
                <a:latin typeface="Nunito"/>
              </a:rPr>
              <a:t>The computer did exactly what I told it —
not what I meant.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2344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5C78"/>
                </a:solidFill>
                <a:latin typeface="Poppins"/>
              </a:rPr>
              <a:t>✗ 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91640"/>
            <a:ext cx="4206240" cy="1417320"/>
          </a:xfrm>
          <a:prstGeom prst="roundRect">
            <a:avLst>
              <a:gd name="adj" fmla="val 10000"/>
            </a:avLst>
          </a:prstGeom>
          <a:solidFill>
            <a:srgbClr val="1E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2258568"/>
            <a:ext cx="3584447" cy="658368"/>
          </a:xfrm>
          <a:prstGeom prst="roundRect">
            <a:avLst>
              <a:gd name="adj" fmla="val 12000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play sound  giggle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IT WAS IN THE WRONG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852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1C2757"/>
                </a:solidFill>
                <a:latin typeface="Poppins"/>
              </a:rPr>
              <a:t>The block wasn't broken.
It was in the wrong 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57628C"/>
                </a:solidFill>
                <a:latin typeface="Nunito"/>
              </a:rPr>
              <a:t>The computer did exactly what I told it —
not what I meant.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7431F0"/>
                </a:solidFill>
                <a:latin typeface="Poppins"/>
              </a:rPr>
              <a:t>That's debugging.
It's half of what we do in the real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2344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25C78"/>
                </a:solidFill>
                <a:latin typeface="Poppins"/>
              </a:rPr>
              <a:t>✗  Wrong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91640"/>
            <a:ext cx="4206240" cy="1417320"/>
          </a:xfrm>
          <a:prstGeom prst="roundRect">
            <a:avLst>
              <a:gd name="adj" fmla="val 10000"/>
            </a:avLst>
          </a:prstGeom>
          <a:solidFill>
            <a:srgbClr val="1E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2258568"/>
            <a:ext cx="3584447" cy="658368"/>
          </a:xfrm>
          <a:prstGeom prst="roundRect">
            <a:avLst>
              <a:gd name="adj" fmla="val 12000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play sound  giggle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6118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D8783"/>
                </a:solidFill>
                <a:latin typeface="Poppins"/>
              </a:rPr>
              <a:t>✓  Fixed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4069080"/>
            <a:ext cx="4206240" cy="1417320"/>
          </a:xfrm>
          <a:prstGeom prst="roundRect">
            <a:avLst>
              <a:gd name="adj" fmla="val 10000"/>
            </a:avLst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28016"/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on button B pressed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4636008"/>
            <a:ext cx="3584447" cy="658368"/>
          </a:xfrm>
          <a:prstGeom prst="roundRect">
            <a:avLst>
              <a:gd name="adj" fmla="val 12000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play sound  giggle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YOUR TURN  ·  MAKE IT YOURS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200" b="1">
                <a:solidFill>
                  <a:srgbClr val="1C2757"/>
                </a:solidFill>
                <a:latin typeface="Poppins"/>
              </a:rPr>
              <a:t>Ten minutes. Make it yours.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E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221224"/>
            <a:ext cx="3301898" cy="128016"/>
          </a:xfrm>
          <a:prstGeom prst="rect">
            <a:avLst/>
          </a:prstGeom>
          <a:solidFill>
            <a:srgbClr val="12A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441448"/>
            <a:ext cx="2716682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57628C"/>
                </a:solidFill>
                <a:latin typeface="Nunito"/>
              </a:rPr>
              <a:t>🟢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1C2757"/>
                </a:solidFill>
                <a:latin typeface="Poppins"/>
              </a:rPr>
              <a:t>Core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57628C"/>
                </a:solidFill>
                <a:latin typeface="Nunito"/>
              </a:rPr>
              <a:t>Your full name scrolls
when you press 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343400"/>
            <a:ext cx="271668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C2757"/>
                </a:solidFill>
                <a:latin typeface="Poppins"/>
              </a:rPr>
              <a:t>show string
"your name"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14884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DE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4898" y="5221224"/>
            <a:ext cx="3301898" cy="128016"/>
          </a:xfrm>
          <a:prstGeom prst="rect">
            <a:avLst/>
          </a:prstGeom>
          <a:solidFill>
            <a:srgbClr val="F59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7506" y="2441448"/>
            <a:ext cx="2716682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57628C"/>
                </a:solidFill>
                <a:latin typeface="Nunito"/>
              </a:rPr>
              <a:t>🟡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1C2757"/>
                </a:solidFill>
                <a:latin typeface="Poppins"/>
              </a:rPr>
              <a:t>Stretch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57628C"/>
                </a:solidFill>
                <a:latin typeface="Nunito"/>
              </a:rPr>
              <a:t>Your own 5×5 drawing
when you press 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7506" y="4343400"/>
            <a:ext cx="271668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C2757"/>
                </a:solidFill>
                <a:latin typeface="Poppins"/>
              </a:rPr>
              <a:t>show leds
(click the squares)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214884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D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6836" y="5221224"/>
            <a:ext cx="3301898" cy="128016"/>
          </a:xfrm>
          <a:prstGeom prst="rect">
            <a:avLst/>
          </a:prstGeom>
          <a:solidFill>
            <a:srgbClr val="F25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9444" y="2441448"/>
            <a:ext cx="2716682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57628C"/>
                </a:solidFill>
                <a:latin typeface="Nunito"/>
              </a:rPr>
              <a:t>🔴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1C2757"/>
                </a:solidFill>
                <a:latin typeface="Poppins"/>
              </a:rPr>
              <a:t>Boss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57628C"/>
                </a:solidFill>
                <a:latin typeface="Nunito"/>
              </a:rPr>
              <a:t>A 3-frame animation
with a sound.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9444" y="4343400"/>
            <a:ext cx="271668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C2757"/>
                </a:solidFill>
                <a:latin typeface="Poppins"/>
              </a:rPr>
              <a:t>show leds × 3
pause (200)
play sound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7431F0"/>
                </a:solidFill>
                <a:latin typeface="Poppins"/>
              </a:rPr>
              <a:t>Green is the goal. You do not have to reach 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3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DD0FB"/>
                </a:solidFill>
                <a:latin typeface="Poppins"/>
              </a:rPr>
              <a:t>SHOW &amp; TELL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6200" b="1">
                <a:solidFill>
                  <a:srgbClr val="FFFFFF"/>
                </a:solidFill>
                <a:latin typeface="Poppins"/>
              </a:rPr>
              <a:t>Show us your badge!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What does it do?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Poppins"/>
              </a:rPr>
              <a:t>What was the tricky bit?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D8783"/>
                </a:solidFill>
                <a:latin typeface="Poppins"/>
              </a:rPr>
              <a:t>TODAY'S SHOUTOUTS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1C2757"/>
                </a:solidFill>
                <a:latin typeface="Poppins"/>
              </a:rPr>
              <a:t>Shoutouts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3301898" cy="2286000"/>
          </a:xfrm>
          <a:prstGeom prst="roundRect">
            <a:avLst>
              <a:gd name="adj" fmla="val 10000"/>
            </a:avLst>
          </a:prstGeom>
          <a:solidFill>
            <a:srgbClr val="EDE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4443984"/>
            <a:ext cx="3301898" cy="128016"/>
          </a:xfrm>
          <a:prstGeom prst="rect">
            <a:avLst/>
          </a:prstGeom>
          <a:solidFill>
            <a:srgbClr val="743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578608"/>
            <a:ext cx="2716682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4600" b="0">
                <a:solidFill>
                  <a:srgbClr val="57628C"/>
                </a:solidFill>
                <a:latin typeface="Nunito"/>
              </a:rPr>
              <a:t>🎨</a:t>
            </a:r>
          </a:p>
          <a:p>
            <a:pPr algn="ctr"/>
            <a:r>
              <a:rPr sz="2400" b="1">
                <a:solidFill>
                  <a:srgbClr val="1C2757"/>
                </a:solidFill>
                <a:latin typeface="Poppins"/>
              </a:rPr>
              <a:t>Most Creative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4898" y="2286000"/>
            <a:ext cx="3301898" cy="2286000"/>
          </a:xfrm>
          <a:prstGeom prst="roundRect">
            <a:avLst>
              <a:gd name="adj" fmla="val 10000"/>
            </a:avLst>
          </a:prstGeom>
          <a:solidFill>
            <a:srgbClr val="E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4898" y="4443984"/>
            <a:ext cx="3301898" cy="128016"/>
          </a:xfrm>
          <a:prstGeom prst="rect">
            <a:avLst/>
          </a:prstGeom>
          <a:solidFill>
            <a:srgbClr val="12A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7506" y="2578608"/>
            <a:ext cx="2716682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4600" b="0">
                <a:solidFill>
                  <a:srgbClr val="57628C"/>
                </a:solidFill>
                <a:latin typeface="Nunito"/>
              </a:rPr>
              <a:t>🐛</a:t>
            </a:r>
          </a:p>
          <a:p>
            <a:pPr algn="ctr"/>
            <a:r>
              <a:rPr sz="2400" b="1">
                <a:solidFill>
                  <a:srgbClr val="1C2757"/>
                </a:solidFill>
                <a:latin typeface="Poppins"/>
              </a:rPr>
              <a:t>Best Bug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6836" y="2286000"/>
            <a:ext cx="3301898" cy="2286000"/>
          </a:xfrm>
          <a:prstGeom prst="roundRect">
            <a:avLst>
              <a:gd name="adj" fmla="val 10000"/>
            </a:avLst>
          </a:prstGeom>
          <a:solidFill>
            <a:srgbClr val="FDE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6836" y="4443984"/>
            <a:ext cx="3301898" cy="128016"/>
          </a:xfrm>
          <a:prstGeom prst="rect">
            <a:avLst/>
          </a:prstGeom>
          <a:solidFill>
            <a:srgbClr val="F59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9444" y="2578608"/>
            <a:ext cx="2716682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4600" b="0">
                <a:solidFill>
                  <a:srgbClr val="57628C"/>
                </a:solidFill>
                <a:latin typeface="Nunito"/>
              </a:rPr>
              <a:t>🌈</a:t>
            </a:r>
          </a:p>
          <a:p>
            <a:pPr algn="ctr"/>
            <a:r>
              <a:rPr sz="2400" b="1">
                <a:solidFill>
                  <a:srgbClr val="1C2757"/>
                </a:solidFill>
                <a:latin typeface="Poppins"/>
              </a:rPr>
              <a:t>Most Colourful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C2757"/>
                </a:solidFill>
                <a:latin typeface="Poppins"/>
              </a:rPr>
              <a:t>Everybody in this room wrote a working program today.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A23"/>
                </a:solidFill>
                <a:latin typeface="Poppins"/>
              </a:rPr>
              <a:t>SNEAK PEEK  ·  SESSION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400" b="1">
                <a:solidFill>
                  <a:srgbClr val="FFFFFF"/>
                </a:solidFill>
                <a:latin typeface="Poppins"/>
              </a:rPr>
              <a:t>You train it to
recognise your
movements.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C6CEE8"/>
                </a:solidFill>
                <a:latin typeface="Nunito"/>
              </a:rPr>
              <a:t>Shake, tilt, punch — the micro:bit learns the difference from your own data, then drives something with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4937760" cy="3657600"/>
          </a:xfrm>
          <a:prstGeom prst="roundRect">
            <a:avLst>
              <a:gd name="adj" fmla="val 9000"/>
            </a:avLst>
          </a:prstGeom>
          <a:noFill/>
          <a:ln w="22225">
            <a:solidFill>
              <a:srgbClr val="5A66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37744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5400" b="0">
                <a:solidFill>
                  <a:srgbClr val="F59A23"/>
                </a:solidFill>
                <a:latin typeface="Nunito"/>
              </a:rPr>
              <a:t>▶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Play the Session 6 clip</a:t>
            </a:r>
          </a:p>
          <a:p>
            <a:pPr algn="ctr"/>
            <a:r>
              <a:rPr sz="1500" b="0">
                <a:solidFill>
                  <a:srgbClr val="9AA4C8"/>
                </a:solidFill>
                <a:latin typeface="Nunito"/>
              </a:rPr>
              <a:t>60–90s  ·  share the tab with audio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59A23"/>
                </a:solidFill>
                <a:latin typeface="Poppins"/>
              </a:rPr>
              <a:t>SNEAK PEEK  ·  SESSION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5800" b="1">
                <a:solidFill>
                  <a:srgbClr val="FFFFFF"/>
                </a:solidFill>
                <a:latin typeface="Poppins"/>
              </a:rPr>
              <a:t>Four houses. One machine.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2430703" cy="17373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944368"/>
            <a:ext cx="1845487" cy="1152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0">
                <a:solidFill>
                  <a:srgbClr val="57628C"/>
                </a:solidFill>
                <a:latin typeface="Nunito"/>
              </a:rPr>
              <a:t>🏠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Sensor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7983" y="2651760"/>
            <a:ext cx="2430703" cy="17373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20591" y="2944368"/>
            <a:ext cx="1845487" cy="1152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0">
                <a:solidFill>
                  <a:srgbClr val="57628C"/>
                </a:solidFill>
                <a:latin typeface="Nunito"/>
              </a:rPr>
              <a:t>🏠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651760"/>
            <a:ext cx="2430703" cy="17373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5615" y="2944368"/>
            <a:ext cx="1845487" cy="1152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0">
                <a:solidFill>
                  <a:srgbClr val="57628C"/>
                </a:solidFill>
                <a:latin typeface="Nunito"/>
              </a:rPr>
              <a:t>🏠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Display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8031" y="2651760"/>
            <a:ext cx="2430703" cy="17373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0639" y="2944368"/>
            <a:ext cx="1845487" cy="1152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0">
                <a:solidFill>
                  <a:srgbClr val="57628C"/>
                </a:solidFill>
                <a:latin typeface="Nunito"/>
              </a:rPr>
              <a:t>🏠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Alarm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 b="0">
                <a:solidFill>
                  <a:srgbClr val="C6CEE8"/>
                </a:solidFill>
                <a:latin typeface="Nunito"/>
              </a:rPr>
              <a:t>Each child programs one part. The pod agrees what messages the parts send each other. Then they demo the whole thing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59A23"/>
                </a:solidFill>
                <a:latin typeface="Poppins"/>
              </a:rPr>
              <a:t>All of it is built on what you just did: an event, a block inside it, and a bug you fixed.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A23"/>
                </a:solidFill>
                <a:latin typeface="Poppins"/>
              </a:rPr>
              <a:t>FOR THE GROWN-UPS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200" b="1">
                <a:solidFill>
                  <a:srgbClr val="FFFFFF"/>
                </a:solidFill>
                <a:latin typeface="Poppins"/>
              </a:rPr>
              <a:t>Maker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2430703" cy="15087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350008"/>
            <a:ext cx="2028367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8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6CEE8"/>
                </a:solidFill>
                <a:latin typeface="Nunito"/>
              </a:rPr>
              <a:t>live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7983" y="2148840"/>
            <a:ext cx="2430703" cy="15087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9151" y="2350008"/>
            <a:ext cx="2028367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4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6CEE8"/>
                </a:solidFill>
                <a:latin typeface="Nunito"/>
              </a:rPr>
              <a:t>children per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148840"/>
            <a:ext cx="2430703" cy="15087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4175" y="2350008"/>
            <a:ext cx="2028367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1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6CEE8"/>
                </a:solidFill>
                <a:latin typeface="Nunito"/>
              </a:rPr>
              <a:t>kit shipped to your door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8031" y="2148840"/>
            <a:ext cx="2430703" cy="15087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9199" y="2350008"/>
            <a:ext cx="2028367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8–11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6CEE8"/>
                </a:solidFill>
                <a:latin typeface="Nunito"/>
              </a:rPr>
              <a:t>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C6CEE8"/>
                </a:solidFill>
                <a:latin typeface="Nunito"/>
              </a:rPr>
              <a:t>Every session ends with something that works. The last one is Demo Day. The kit — micro:bit, battery pack, cable — arrives before the session that needs it, so there is nothing to buy separately.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A23"/>
                </a:solidFill>
                <a:latin typeface="Poppins"/>
              </a:rPr>
              <a:t>FOR THE GROWN-UPS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200" b="1">
                <a:solidFill>
                  <a:srgbClr val="FFFFFF"/>
                </a:solidFill>
                <a:latin typeface="Poppins"/>
              </a:rPr>
              <a:t>Maker 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2430703" cy="15087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350008"/>
            <a:ext cx="2028367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8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6CEE8"/>
                </a:solidFill>
                <a:latin typeface="Nunito"/>
              </a:rPr>
              <a:t>live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7983" y="2148840"/>
            <a:ext cx="2430703" cy="15087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9151" y="2350008"/>
            <a:ext cx="2028367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4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6CEE8"/>
                </a:solidFill>
                <a:latin typeface="Nunito"/>
              </a:rPr>
              <a:t>children per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148840"/>
            <a:ext cx="2430703" cy="15087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4175" y="2350008"/>
            <a:ext cx="2028367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1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6CEE8"/>
                </a:solidFill>
                <a:latin typeface="Nunito"/>
              </a:rPr>
              <a:t>kit shipped to your door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8031" y="2148840"/>
            <a:ext cx="2430703" cy="1508760"/>
          </a:xfrm>
          <a:prstGeom prst="roundRect">
            <a:avLst>
              <a:gd name="adj" fmla="val 10000"/>
            </a:avLst>
          </a:prstGeom>
          <a:solidFill>
            <a:srgbClr val="2A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9199" y="2350008"/>
            <a:ext cx="2028367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8–11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6CEE8"/>
                </a:solidFill>
                <a:latin typeface="Nunito"/>
              </a:rPr>
              <a:t>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C6CEE8"/>
                </a:solidFill>
                <a:latin typeface="Nunito"/>
              </a:rPr>
              <a:t>Every session ends with something that works. The last one is Demo Day. The kit — micro:bit, battery pack, cable — arrives before the session that needs it, so there is nothing to buy separately.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74920"/>
            <a:ext cx="10545775" cy="1097280"/>
          </a:xfrm>
          <a:prstGeom prst="roundRect">
            <a:avLst>
              <a:gd name="adj" fmla="val 10000"/>
            </a:avLst>
          </a:prstGeom>
          <a:solidFill>
            <a:srgbClr val="F59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394960"/>
            <a:ext cx="9814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C2757"/>
                </a:solidFill>
                <a:latin typeface="Poppins"/>
              </a:rPr>
              <a:t>Workshop price [PRICE]     ·     Code [CODE]     ·     Closes [DEADLINE]     ·     Link's in the chat 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A29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5600" b="1">
                <a:solidFill>
                  <a:srgbClr val="FFFFFF"/>
                </a:solidFill>
                <a:latin typeface="Poppins"/>
              </a:rPr>
              <a:t>Hold up your badge…
say cheese! 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17439" y="3200400"/>
            <a:ext cx="1956816" cy="2299715"/>
          </a:xfrm>
          <a:prstGeom prst="roundRect">
            <a:avLst>
              <a:gd name="adj" fmla="val 12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63743" y="3346704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11215" y="3346704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58687" y="3346704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6159" y="3346704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53631" y="3346704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63743" y="3762756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11215" y="3762756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58687" y="3762756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6159" y="3762756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53631" y="3762756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63743" y="4178808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11215" y="4178808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58687" y="4178808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6159" y="4178808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53631" y="4178808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63743" y="4594860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11215" y="4594860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58687" y="4594860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6159" y="4594860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53631" y="4594860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63743" y="5010912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11215" y="5010912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58687" y="5010912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6159" y="5010912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53631" y="5010912"/>
            <a:ext cx="274320" cy="342900"/>
          </a:xfrm>
          <a:prstGeom prst="roundRect">
            <a:avLst>
              <a:gd name="adj" fmla="val 22000"/>
            </a:avLst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oppins"/>
              </a:rPr>
              <a:t>Thanks for building with us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